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3"/>
  </p:notesMasterIdLst>
  <p:sldIdLst>
    <p:sldId id="256" r:id="rId2"/>
    <p:sldId id="257" r:id="rId3"/>
    <p:sldId id="258" r:id="rId4"/>
    <p:sldId id="259" r:id="rId5"/>
    <p:sldId id="260" r:id="rId6"/>
    <p:sldId id="282" r:id="rId7"/>
    <p:sldId id="261" r:id="rId8"/>
    <p:sldId id="262" r:id="rId9"/>
    <p:sldId id="283" r:id="rId10"/>
    <p:sldId id="265" r:id="rId11"/>
    <p:sldId id="266" r:id="rId12"/>
    <p:sldId id="285" r:id="rId13"/>
    <p:sldId id="284" r:id="rId14"/>
    <p:sldId id="286" r:id="rId15"/>
    <p:sldId id="287" r:id="rId16"/>
    <p:sldId id="268" r:id="rId17"/>
    <p:sldId id="289" r:id="rId18"/>
    <p:sldId id="298" r:id="rId19"/>
    <p:sldId id="290" r:id="rId20"/>
    <p:sldId id="297" r:id="rId21"/>
    <p:sldId id="292" r:id="rId22"/>
    <p:sldId id="293" r:id="rId23"/>
    <p:sldId id="294" r:id="rId24"/>
    <p:sldId id="295" r:id="rId25"/>
    <p:sldId id="296" r:id="rId26"/>
    <p:sldId id="273" r:id="rId27"/>
    <p:sldId id="299" r:id="rId28"/>
    <p:sldId id="301" r:id="rId29"/>
    <p:sldId id="302" r:id="rId30"/>
    <p:sldId id="303" r:id="rId31"/>
    <p:sldId id="281" r:id="rId32"/>
  </p:sldIdLst>
  <p:sldSz cx="9893300" cy="6858000"/>
  <p:notesSz cx="6858000" cy="9144000"/>
  <p:embeddedFontLst>
    <p:embeddedFont>
      <p:font typeface="Arial MT Pro" panose="020B0604020202020204" charset="0"/>
      <p:regular r:id="rId34"/>
    </p:embeddedFont>
    <p:embeddedFont>
      <p:font typeface="Arimo" panose="020B0604020202020204" charset="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3FDB4FE-FCE1-43A2-BC3C-C71014F5AD5B}" v="36" dt="2025-10-01T21:07:12.8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84" d="100"/>
          <a:sy n="84" d="100"/>
        </p:scale>
        <p:origin x="122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69F5F8-BA44-41B0-84EE-F504E1EEF23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B1CBD74-B6D6-4826-99D1-A0C44446193E}">
      <dgm:prSet/>
      <dgm:spPr/>
      <dgm:t>
        <a:bodyPr/>
        <a:lstStyle/>
        <a:p>
          <a:pPr>
            <a:lnSpc>
              <a:spcPct val="100000"/>
            </a:lnSpc>
          </a:pPr>
          <a:r>
            <a:rPr lang="en-US"/>
            <a:t>In this project, we tried to apply what we leaned in the past few weeks on a real-world dataset</a:t>
          </a:r>
        </a:p>
      </dgm:t>
    </dgm:pt>
    <dgm:pt modelId="{E1663808-17FA-46CA-9283-41AEB13B1ABE}" type="parTrans" cxnId="{88370C9A-F731-4727-A871-4B8920FA1419}">
      <dgm:prSet/>
      <dgm:spPr/>
      <dgm:t>
        <a:bodyPr/>
        <a:lstStyle/>
        <a:p>
          <a:endParaRPr lang="en-US"/>
        </a:p>
      </dgm:t>
    </dgm:pt>
    <dgm:pt modelId="{B63FAD52-0CF5-4D86-8FE8-9DDDD9D72A4A}" type="sibTrans" cxnId="{88370C9A-F731-4727-A871-4B8920FA1419}">
      <dgm:prSet/>
      <dgm:spPr/>
      <dgm:t>
        <a:bodyPr/>
        <a:lstStyle/>
        <a:p>
          <a:endParaRPr lang="en-US"/>
        </a:p>
      </dgm:t>
    </dgm:pt>
    <dgm:pt modelId="{BF3FE659-6879-4190-93DB-9E8642CCEC8D}">
      <dgm:prSet/>
      <dgm:spPr/>
      <dgm:t>
        <a:bodyPr/>
        <a:lstStyle/>
        <a:p>
          <a:pPr>
            <a:lnSpc>
              <a:spcPct val="100000"/>
            </a:lnSpc>
          </a:pPr>
          <a:r>
            <a:rPr lang="en-US"/>
            <a:t>Our dataset is about Airline Passenger Satisfaction</a:t>
          </a:r>
        </a:p>
      </dgm:t>
    </dgm:pt>
    <dgm:pt modelId="{D59D63A3-46A1-4AA7-87A4-6B545322F521}" type="parTrans" cxnId="{A661D17F-A2AA-49D7-B3D0-83A46191F64A}">
      <dgm:prSet/>
      <dgm:spPr/>
      <dgm:t>
        <a:bodyPr/>
        <a:lstStyle/>
        <a:p>
          <a:endParaRPr lang="en-US"/>
        </a:p>
      </dgm:t>
    </dgm:pt>
    <dgm:pt modelId="{6CB952A0-E3EB-4964-A4C5-CD0DCEF7D380}" type="sibTrans" cxnId="{A661D17F-A2AA-49D7-B3D0-83A46191F64A}">
      <dgm:prSet/>
      <dgm:spPr/>
      <dgm:t>
        <a:bodyPr/>
        <a:lstStyle/>
        <a:p>
          <a:endParaRPr lang="en-US"/>
        </a:p>
      </dgm:t>
    </dgm:pt>
    <dgm:pt modelId="{8A4C53C5-D21C-4397-8FE5-E9BD745FB95E}">
      <dgm:prSet/>
      <dgm:spPr/>
      <dgm:t>
        <a:bodyPr/>
        <a:lstStyle/>
        <a:p>
          <a:pPr>
            <a:lnSpc>
              <a:spcPct val="100000"/>
            </a:lnSpc>
          </a:pPr>
          <a:r>
            <a:rPr lang="en-US"/>
            <a:t>We aim at exploring this dataset, asking the right business questions, applying ML model to it  in order to help us find useful insights for potential improvement in the Airline System</a:t>
          </a:r>
        </a:p>
      </dgm:t>
    </dgm:pt>
    <dgm:pt modelId="{3B74DF08-B17C-4936-A560-D806A442ECF8}" type="parTrans" cxnId="{B8E8FDF5-73A2-45C9-976F-F5D1E2DBF562}">
      <dgm:prSet/>
      <dgm:spPr/>
      <dgm:t>
        <a:bodyPr/>
        <a:lstStyle/>
        <a:p>
          <a:endParaRPr lang="en-US"/>
        </a:p>
      </dgm:t>
    </dgm:pt>
    <dgm:pt modelId="{24629EE1-48EF-4459-B830-6EBE1BB11FA8}" type="sibTrans" cxnId="{B8E8FDF5-73A2-45C9-976F-F5D1E2DBF562}">
      <dgm:prSet/>
      <dgm:spPr/>
      <dgm:t>
        <a:bodyPr/>
        <a:lstStyle/>
        <a:p>
          <a:endParaRPr lang="en-US"/>
        </a:p>
      </dgm:t>
    </dgm:pt>
    <dgm:pt modelId="{9B671E43-5E33-4620-A23D-B0402181DAE6}" type="pres">
      <dgm:prSet presAssocID="{F369F5F8-BA44-41B0-84EE-F504E1EEF23D}" presName="root" presStyleCnt="0">
        <dgm:presLayoutVars>
          <dgm:dir/>
          <dgm:resizeHandles val="exact"/>
        </dgm:presLayoutVars>
      </dgm:prSet>
      <dgm:spPr/>
    </dgm:pt>
    <dgm:pt modelId="{DF942B92-C805-4749-9B41-BB066545B420}" type="pres">
      <dgm:prSet presAssocID="{4B1CBD74-B6D6-4826-99D1-A0C44446193E}" presName="compNode" presStyleCnt="0"/>
      <dgm:spPr/>
    </dgm:pt>
    <dgm:pt modelId="{2EB98AB8-DAAB-4715-91E0-21BF52D84650}" type="pres">
      <dgm:prSet presAssocID="{4B1CBD74-B6D6-4826-99D1-A0C44446193E}" presName="bgRect" presStyleLbl="bgShp" presStyleIdx="0" presStyleCnt="3"/>
      <dgm:spPr/>
    </dgm:pt>
    <dgm:pt modelId="{E8ACF969-37A3-4887-AD2F-F1D525347F33}" type="pres">
      <dgm:prSet presAssocID="{4B1CBD74-B6D6-4826-99D1-A0C44446193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C193967D-7E08-410D-ABA6-3F57822BE404}" type="pres">
      <dgm:prSet presAssocID="{4B1CBD74-B6D6-4826-99D1-A0C44446193E}" presName="spaceRect" presStyleCnt="0"/>
      <dgm:spPr/>
    </dgm:pt>
    <dgm:pt modelId="{C7FD1A99-B675-4DC2-B213-77FD42CC141C}" type="pres">
      <dgm:prSet presAssocID="{4B1CBD74-B6D6-4826-99D1-A0C44446193E}" presName="parTx" presStyleLbl="revTx" presStyleIdx="0" presStyleCnt="3">
        <dgm:presLayoutVars>
          <dgm:chMax val="0"/>
          <dgm:chPref val="0"/>
        </dgm:presLayoutVars>
      </dgm:prSet>
      <dgm:spPr/>
    </dgm:pt>
    <dgm:pt modelId="{296B1AF3-D5F2-4F19-A883-4AD044522D90}" type="pres">
      <dgm:prSet presAssocID="{B63FAD52-0CF5-4D86-8FE8-9DDDD9D72A4A}" presName="sibTrans" presStyleCnt="0"/>
      <dgm:spPr/>
    </dgm:pt>
    <dgm:pt modelId="{C69B54EB-D7F9-4E56-A3C4-59F960400C3D}" type="pres">
      <dgm:prSet presAssocID="{BF3FE659-6879-4190-93DB-9E8642CCEC8D}" presName="compNode" presStyleCnt="0"/>
      <dgm:spPr/>
    </dgm:pt>
    <dgm:pt modelId="{128A1915-61A6-4ABB-A0FC-D0D130EE5888}" type="pres">
      <dgm:prSet presAssocID="{BF3FE659-6879-4190-93DB-9E8642CCEC8D}" presName="bgRect" presStyleLbl="bgShp" presStyleIdx="1" presStyleCnt="3"/>
      <dgm:spPr/>
    </dgm:pt>
    <dgm:pt modelId="{4CBF2B5A-87E8-4CDF-AD12-C372A25C4556}" type="pres">
      <dgm:prSet presAssocID="{BF3FE659-6879-4190-93DB-9E8642CCEC8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Aeroplane"/>
        </a:ext>
      </dgm:extLst>
    </dgm:pt>
    <dgm:pt modelId="{792F66A5-E359-4C22-B667-0AA608FD71F2}" type="pres">
      <dgm:prSet presAssocID="{BF3FE659-6879-4190-93DB-9E8642CCEC8D}" presName="spaceRect" presStyleCnt="0"/>
      <dgm:spPr/>
    </dgm:pt>
    <dgm:pt modelId="{DEC4BFF4-BEA8-4B07-9029-4225D0B1B640}" type="pres">
      <dgm:prSet presAssocID="{BF3FE659-6879-4190-93DB-9E8642CCEC8D}" presName="parTx" presStyleLbl="revTx" presStyleIdx="1" presStyleCnt="3">
        <dgm:presLayoutVars>
          <dgm:chMax val="0"/>
          <dgm:chPref val="0"/>
        </dgm:presLayoutVars>
      </dgm:prSet>
      <dgm:spPr/>
    </dgm:pt>
    <dgm:pt modelId="{3D4702CB-4A80-4E9A-BA48-B58A3AD793E2}" type="pres">
      <dgm:prSet presAssocID="{6CB952A0-E3EB-4964-A4C5-CD0DCEF7D380}" presName="sibTrans" presStyleCnt="0"/>
      <dgm:spPr/>
    </dgm:pt>
    <dgm:pt modelId="{E86046F0-C551-4D6F-97B7-9F71D189186F}" type="pres">
      <dgm:prSet presAssocID="{8A4C53C5-D21C-4397-8FE5-E9BD745FB95E}" presName="compNode" presStyleCnt="0"/>
      <dgm:spPr/>
    </dgm:pt>
    <dgm:pt modelId="{745471B2-54C6-44AE-BA46-0DCE87EF13E8}" type="pres">
      <dgm:prSet presAssocID="{8A4C53C5-D21C-4397-8FE5-E9BD745FB95E}" presName="bgRect" presStyleLbl="bgShp" presStyleIdx="2" presStyleCnt="3"/>
      <dgm:spPr/>
    </dgm:pt>
    <dgm:pt modelId="{646A263B-3DBE-4507-A2E2-15EB04A3C7EA}" type="pres">
      <dgm:prSet presAssocID="{8A4C53C5-D21C-4397-8FE5-E9BD745FB95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4748B865-126B-4633-8CDB-00DCB8F0D7EC}" type="pres">
      <dgm:prSet presAssocID="{8A4C53C5-D21C-4397-8FE5-E9BD745FB95E}" presName="spaceRect" presStyleCnt="0"/>
      <dgm:spPr/>
    </dgm:pt>
    <dgm:pt modelId="{D77E9D53-B89E-4D3F-85D9-B81BEF7075CD}" type="pres">
      <dgm:prSet presAssocID="{8A4C53C5-D21C-4397-8FE5-E9BD745FB95E}" presName="parTx" presStyleLbl="revTx" presStyleIdx="2" presStyleCnt="3">
        <dgm:presLayoutVars>
          <dgm:chMax val="0"/>
          <dgm:chPref val="0"/>
        </dgm:presLayoutVars>
      </dgm:prSet>
      <dgm:spPr/>
    </dgm:pt>
  </dgm:ptLst>
  <dgm:cxnLst>
    <dgm:cxn modelId="{49747639-3DE4-420E-A379-EEB00CFAA716}" type="presOf" srcId="{F369F5F8-BA44-41B0-84EE-F504E1EEF23D}" destId="{9B671E43-5E33-4620-A23D-B0402181DAE6}" srcOrd="0" destOrd="0" presId="urn:microsoft.com/office/officeart/2018/2/layout/IconVerticalSolidList"/>
    <dgm:cxn modelId="{C984344B-5E91-4E16-8B96-AFD3DCC5FA3C}" type="presOf" srcId="{BF3FE659-6879-4190-93DB-9E8642CCEC8D}" destId="{DEC4BFF4-BEA8-4B07-9029-4225D0B1B640}" srcOrd="0" destOrd="0" presId="urn:microsoft.com/office/officeart/2018/2/layout/IconVerticalSolidList"/>
    <dgm:cxn modelId="{A661D17F-A2AA-49D7-B3D0-83A46191F64A}" srcId="{F369F5F8-BA44-41B0-84EE-F504E1EEF23D}" destId="{BF3FE659-6879-4190-93DB-9E8642CCEC8D}" srcOrd="1" destOrd="0" parTransId="{D59D63A3-46A1-4AA7-87A4-6B545322F521}" sibTransId="{6CB952A0-E3EB-4964-A4C5-CD0DCEF7D380}"/>
    <dgm:cxn modelId="{88370C9A-F731-4727-A871-4B8920FA1419}" srcId="{F369F5F8-BA44-41B0-84EE-F504E1EEF23D}" destId="{4B1CBD74-B6D6-4826-99D1-A0C44446193E}" srcOrd="0" destOrd="0" parTransId="{E1663808-17FA-46CA-9283-41AEB13B1ABE}" sibTransId="{B63FAD52-0CF5-4D86-8FE8-9DDDD9D72A4A}"/>
    <dgm:cxn modelId="{9AA81BB8-1599-49F1-9EEF-E63FF3D4DF4B}" type="presOf" srcId="{4B1CBD74-B6D6-4826-99D1-A0C44446193E}" destId="{C7FD1A99-B675-4DC2-B213-77FD42CC141C}" srcOrd="0" destOrd="0" presId="urn:microsoft.com/office/officeart/2018/2/layout/IconVerticalSolidList"/>
    <dgm:cxn modelId="{D0C7B2CB-7E92-45BD-9A82-CAA5E573B577}" type="presOf" srcId="{8A4C53C5-D21C-4397-8FE5-E9BD745FB95E}" destId="{D77E9D53-B89E-4D3F-85D9-B81BEF7075CD}" srcOrd="0" destOrd="0" presId="urn:microsoft.com/office/officeart/2018/2/layout/IconVerticalSolidList"/>
    <dgm:cxn modelId="{B8E8FDF5-73A2-45C9-976F-F5D1E2DBF562}" srcId="{F369F5F8-BA44-41B0-84EE-F504E1EEF23D}" destId="{8A4C53C5-D21C-4397-8FE5-E9BD745FB95E}" srcOrd="2" destOrd="0" parTransId="{3B74DF08-B17C-4936-A560-D806A442ECF8}" sibTransId="{24629EE1-48EF-4459-B830-6EBE1BB11FA8}"/>
    <dgm:cxn modelId="{3DA3A055-E980-4BFB-B990-716CB058AC2A}" type="presParOf" srcId="{9B671E43-5E33-4620-A23D-B0402181DAE6}" destId="{DF942B92-C805-4749-9B41-BB066545B420}" srcOrd="0" destOrd="0" presId="urn:microsoft.com/office/officeart/2018/2/layout/IconVerticalSolidList"/>
    <dgm:cxn modelId="{57F74185-0662-4540-AC34-C8C5FAAB6B05}" type="presParOf" srcId="{DF942B92-C805-4749-9B41-BB066545B420}" destId="{2EB98AB8-DAAB-4715-91E0-21BF52D84650}" srcOrd="0" destOrd="0" presId="urn:microsoft.com/office/officeart/2018/2/layout/IconVerticalSolidList"/>
    <dgm:cxn modelId="{38B2006E-6441-4FF8-BAAC-CA3E1FF837A5}" type="presParOf" srcId="{DF942B92-C805-4749-9B41-BB066545B420}" destId="{E8ACF969-37A3-4887-AD2F-F1D525347F33}" srcOrd="1" destOrd="0" presId="urn:microsoft.com/office/officeart/2018/2/layout/IconVerticalSolidList"/>
    <dgm:cxn modelId="{BECC7865-7246-447B-8BF3-777291FC4144}" type="presParOf" srcId="{DF942B92-C805-4749-9B41-BB066545B420}" destId="{C193967D-7E08-410D-ABA6-3F57822BE404}" srcOrd="2" destOrd="0" presId="urn:microsoft.com/office/officeart/2018/2/layout/IconVerticalSolidList"/>
    <dgm:cxn modelId="{88D76621-071C-428E-95D5-466062E87B1E}" type="presParOf" srcId="{DF942B92-C805-4749-9B41-BB066545B420}" destId="{C7FD1A99-B675-4DC2-B213-77FD42CC141C}" srcOrd="3" destOrd="0" presId="urn:microsoft.com/office/officeart/2018/2/layout/IconVerticalSolidList"/>
    <dgm:cxn modelId="{52971DBC-1F14-44E8-B9FF-043F0C7A725F}" type="presParOf" srcId="{9B671E43-5E33-4620-A23D-B0402181DAE6}" destId="{296B1AF3-D5F2-4F19-A883-4AD044522D90}" srcOrd="1" destOrd="0" presId="urn:microsoft.com/office/officeart/2018/2/layout/IconVerticalSolidList"/>
    <dgm:cxn modelId="{9D965B4E-B6B5-4EF8-8770-1DA87E2B973C}" type="presParOf" srcId="{9B671E43-5E33-4620-A23D-B0402181DAE6}" destId="{C69B54EB-D7F9-4E56-A3C4-59F960400C3D}" srcOrd="2" destOrd="0" presId="urn:microsoft.com/office/officeart/2018/2/layout/IconVerticalSolidList"/>
    <dgm:cxn modelId="{F6DA81B4-D134-44B3-A207-385C16D12A17}" type="presParOf" srcId="{C69B54EB-D7F9-4E56-A3C4-59F960400C3D}" destId="{128A1915-61A6-4ABB-A0FC-D0D130EE5888}" srcOrd="0" destOrd="0" presId="urn:microsoft.com/office/officeart/2018/2/layout/IconVerticalSolidList"/>
    <dgm:cxn modelId="{2FCD77F0-6870-4F86-98FB-620504C2CCF5}" type="presParOf" srcId="{C69B54EB-D7F9-4E56-A3C4-59F960400C3D}" destId="{4CBF2B5A-87E8-4CDF-AD12-C372A25C4556}" srcOrd="1" destOrd="0" presId="urn:microsoft.com/office/officeart/2018/2/layout/IconVerticalSolidList"/>
    <dgm:cxn modelId="{753E17E2-7F14-4F09-AFD6-92DB27C4C036}" type="presParOf" srcId="{C69B54EB-D7F9-4E56-A3C4-59F960400C3D}" destId="{792F66A5-E359-4C22-B667-0AA608FD71F2}" srcOrd="2" destOrd="0" presId="urn:microsoft.com/office/officeart/2018/2/layout/IconVerticalSolidList"/>
    <dgm:cxn modelId="{FD01F69C-C8D0-49D8-91E0-16449F96388D}" type="presParOf" srcId="{C69B54EB-D7F9-4E56-A3C4-59F960400C3D}" destId="{DEC4BFF4-BEA8-4B07-9029-4225D0B1B640}" srcOrd="3" destOrd="0" presId="urn:microsoft.com/office/officeart/2018/2/layout/IconVerticalSolidList"/>
    <dgm:cxn modelId="{D2BB3088-8DEB-48B8-8FDE-530E1DB7791C}" type="presParOf" srcId="{9B671E43-5E33-4620-A23D-B0402181DAE6}" destId="{3D4702CB-4A80-4E9A-BA48-B58A3AD793E2}" srcOrd="3" destOrd="0" presId="urn:microsoft.com/office/officeart/2018/2/layout/IconVerticalSolidList"/>
    <dgm:cxn modelId="{D22E9AA9-F988-4A18-8BB5-0059E65F0350}" type="presParOf" srcId="{9B671E43-5E33-4620-A23D-B0402181DAE6}" destId="{E86046F0-C551-4D6F-97B7-9F71D189186F}" srcOrd="4" destOrd="0" presId="urn:microsoft.com/office/officeart/2018/2/layout/IconVerticalSolidList"/>
    <dgm:cxn modelId="{E37E6932-7E4C-4BE7-87A0-C4D3D1B20CC6}" type="presParOf" srcId="{E86046F0-C551-4D6F-97B7-9F71D189186F}" destId="{745471B2-54C6-44AE-BA46-0DCE87EF13E8}" srcOrd="0" destOrd="0" presId="urn:microsoft.com/office/officeart/2018/2/layout/IconVerticalSolidList"/>
    <dgm:cxn modelId="{99884FC0-AA68-4D59-BF97-F58ECFC1440A}" type="presParOf" srcId="{E86046F0-C551-4D6F-97B7-9F71D189186F}" destId="{646A263B-3DBE-4507-A2E2-15EB04A3C7EA}" srcOrd="1" destOrd="0" presId="urn:microsoft.com/office/officeart/2018/2/layout/IconVerticalSolidList"/>
    <dgm:cxn modelId="{D2168749-93A8-431C-B517-3FB31B320619}" type="presParOf" srcId="{E86046F0-C551-4D6F-97B7-9F71D189186F}" destId="{4748B865-126B-4633-8CDB-00DCB8F0D7EC}" srcOrd="2" destOrd="0" presId="urn:microsoft.com/office/officeart/2018/2/layout/IconVerticalSolidList"/>
    <dgm:cxn modelId="{BA7DD3FD-8C8D-4584-93B9-A2F260F9146B}" type="presParOf" srcId="{E86046F0-C551-4D6F-97B7-9F71D189186F}" destId="{D77E9D53-B89E-4D3F-85D9-B81BEF7075C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B98AB8-DAAB-4715-91E0-21BF52D84650}">
      <dsp:nvSpPr>
        <dsp:cNvPr id="0" name=""/>
        <dsp:cNvSpPr/>
      </dsp:nvSpPr>
      <dsp:spPr>
        <a:xfrm>
          <a:off x="0" y="327"/>
          <a:ext cx="9559859" cy="7668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ACF969-37A3-4887-AD2F-F1D525347F33}">
      <dsp:nvSpPr>
        <dsp:cNvPr id="0" name=""/>
        <dsp:cNvSpPr/>
      </dsp:nvSpPr>
      <dsp:spPr>
        <a:xfrm>
          <a:off x="231973" y="172869"/>
          <a:ext cx="421769" cy="42176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FD1A99-B675-4DC2-B213-77FD42CC141C}">
      <dsp:nvSpPr>
        <dsp:cNvPr id="0" name=""/>
        <dsp:cNvSpPr/>
      </dsp:nvSpPr>
      <dsp:spPr>
        <a:xfrm>
          <a:off x="885716" y="327"/>
          <a:ext cx="8674142" cy="766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59" tIns="81159" rIns="81159" bIns="81159" numCol="1" spcCol="1270" anchor="ctr" anchorCtr="0">
          <a:noAutofit/>
        </a:bodyPr>
        <a:lstStyle/>
        <a:p>
          <a:pPr marL="0" lvl="0" indent="0" algn="l" defTabSz="800100">
            <a:lnSpc>
              <a:spcPct val="100000"/>
            </a:lnSpc>
            <a:spcBef>
              <a:spcPct val="0"/>
            </a:spcBef>
            <a:spcAft>
              <a:spcPct val="35000"/>
            </a:spcAft>
            <a:buNone/>
          </a:pPr>
          <a:r>
            <a:rPr lang="en-US" sz="1800" kern="1200"/>
            <a:t>In this project, we tried to apply what we leaned in the past few weeks on a real-world dataset</a:t>
          </a:r>
        </a:p>
      </dsp:txBody>
      <dsp:txXfrm>
        <a:off x="885716" y="327"/>
        <a:ext cx="8674142" cy="766854"/>
      </dsp:txXfrm>
    </dsp:sp>
    <dsp:sp modelId="{128A1915-61A6-4ABB-A0FC-D0D130EE5888}">
      <dsp:nvSpPr>
        <dsp:cNvPr id="0" name=""/>
        <dsp:cNvSpPr/>
      </dsp:nvSpPr>
      <dsp:spPr>
        <a:xfrm>
          <a:off x="0" y="958895"/>
          <a:ext cx="9559859" cy="7668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BF2B5A-87E8-4CDF-AD12-C372A25C4556}">
      <dsp:nvSpPr>
        <dsp:cNvPr id="0" name=""/>
        <dsp:cNvSpPr/>
      </dsp:nvSpPr>
      <dsp:spPr>
        <a:xfrm>
          <a:off x="231973" y="1131438"/>
          <a:ext cx="421769" cy="42176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C4BFF4-BEA8-4B07-9029-4225D0B1B640}">
      <dsp:nvSpPr>
        <dsp:cNvPr id="0" name=""/>
        <dsp:cNvSpPr/>
      </dsp:nvSpPr>
      <dsp:spPr>
        <a:xfrm>
          <a:off x="885716" y="958895"/>
          <a:ext cx="8674142" cy="766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59" tIns="81159" rIns="81159" bIns="81159" numCol="1" spcCol="1270" anchor="ctr" anchorCtr="0">
          <a:noAutofit/>
        </a:bodyPr>
        <a:lstStyle/>
        <a:p>
          <a:pPr marL="0" lvl="0" indent="0" algn="l" defTabSz="800100">
            <a:lnSpc>
              <a:spcPct val="100000"/>
            </a:lnSpc>
            <a:spcBef>
              <a:spcPct val="0"/>
            </a:spcBef>
            <a:spcAft>
              <a:spcPct val="35000"/>
            </a:spcAft>
            <a:buNone/>
          </a:pPr>
          <a:r>
            <a:rPr lang="en-US" sz="1800" kern="1200"/>
            <a:t>Our dataset is about Airline Passenger Satisfaction</a:t>
          </a:r>
        </a:p>
      </dsp:txBody>
      <dsp:txXfrm>
        <a:off x="885716" y="958895"/>
        <a:ext cx="8674142" cy="766854"/>
      </dsp:txXfrm>
    </dsp:sp>
    <dsp:sp modelId="{745471B2-54C6-44AE-BA46-0DCE87EF13E8}">
      <dsp:nvSpPr>
        <dsp:cNvPr id="0" name=""/>
        <dsp:cNvSpPr/>
      </dsp:nvSpPr>
      <dsp:spPr>
        <a:xfrm>
          <a:off x="0" y="1917463"/>
          <a:ext cx="9559859" cy="76685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6A263B-3DBE-4507-A2E2-15EB04A3C7EA}">
      <dsp:nvSpPr>
        <dsp:cNvPr id="0" name=""/>
        <dsp:cNvSpPr/>
      </dsp:nvSpPr>
      <dsp:spPr>
        <a:xfrm>
          <a:off x="231973" y="2090006"/>
          <a:ext cx="421769" cy="42176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77E9D53-B89E-4D3F-85D9-B81BEF7075CD}">
      <dsp:nvSpPr>
        <dsp:cNvPr id="0" name=""/>
        <dsp:cNvSpPr/>
      </dsp:nvSpPr>
      <dsp:spPr>
        <a:xfrm>
          <a:off x="885716" y="1917463"/>
          <a:ext cx="8674142" cy="766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159" tIns="81159" rIns="81159" bIns="81159" numCol="1" spcCol="1270" anchor="ctr" anchorCtr="0">
          <a:noAutofit/>
        </a:bodyPr>
        <a:lstStyle/>
        <a:p>
          <a:pPr marL="0" lvl="0" indent="0" algn="l" defTabSz="800100">
            <a:lnSpc>
              <a:spcPct val="100000"/>
            </a:lnSpc>
            <a:spcBef>
              <a:spcPct val="0"/>
            </a:spcBef>
            <a:spcAft>
              <a:spcPct val="35000"/>
            </a:spcAft>
            <a:buNone/>
          </a:pPr>
          <a:r>
            <a:rPr lang="en-US" sz="1800" kern="1200"/>
            <a:t>We aim at exploring this dataset, asking the right business questions, applying ML model to it  in order to help us find useful insights for potential improvement in the Airline System</a:t>
          </a:r>
        </a:p>
      </dsp:txBody>
      <dsp:txXfrm>
        <a:off x="885716" y="1917463"/>
        <a:ext cx="8674142" cy="766854"/>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01.10.2025</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720975" y="512763"/>
            <a:ext cx="370205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Note:</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teejmahal20/airline-passenger-satisfaction"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Freeform 2"/>
          <p:cNvSpPr/>
          <p:nvPr/>
        </p:nvSpPr>
        <p:spPr>
          <a:xfrm>
            <a:off x="7929154" y="247008"/>
            <a:ext cx="1599011" cy="524091"/>
          </a:xfrm>
          <a:custGeom>
            <a:avLst/>
            <a:gdLst/>
            <a:ahLst/>
            <a:cxnLst/>
            <a:rect l="l" t="t" r="r" b="b"/>
            <a:pathLst>
              <a:path w="1599011" h="524091">
                <a:moveTo>
                  <a:pt x="0" y="0"/>
                </a:moveTo>
                <a:lnTo>
                  <a:pt x="1599011" y="0"/>
                </a:lnTo>
                <a:lnTo>
                  <a:pt x="1599011" y="524091"/>
                </a:lnTo>
                <a:lnTo>
                  <a:pt x="0" y="524091"/>
                </a:lnTo>
                <a:lnTo>
                  <a:pt x="0" y="0"/>
                </a:lnTo>
                <a:close/>
              </a:path>
            </a:pathLst>
          </a:custGeom>
          <a:blipFill>
            <a:blip r:embed="rId3"/>
            <a:stretch>
              <a:fillRect/>
            </a:stretch>
          </a:blipFill>
        </p:spPr>
        <p:txBody>
          <a:bodyPr/>
          <a:lstStyle/>
          <a:p>
            <a:endParaRPr lang="en-GB"/>
          </a:p>
        </p:txBody>
      </p:sp>
      <p:sp>
        <p:nvSpPr>
          <p:cNvPr id="3" name="Freeform 3"/>
          <p:cNvSpPr/>
          <p:nvPr/>
        </p:nvSpPr>
        <p:spPr>
          <a:xfrm>
            <a:off x="495902" y="403958"/>
            <a:ext cx="1360963" cy="210192"/>
          </a:xfrm>
          <a:custGeom>
            <a:avLst/>
            <a:gdLst/>
            <a:ahLst/>
            <a:cxnLst/>
            <a:rect l="l" t="t" r="r" b="b"/>
            <a:pathLst>
              <a:path w="1360963" h="210192">
                <a:moveTo>
                  <a:pt x="0" y="0"/>
                </a:moveTo>
                <a:lnTo>
                  <a:pt x="1360963" y="0"/>
                </a:lnTo>
                <a:lnTo>
                  <a:pt x="1360963" y="210192"/>
                </a:lnTo>
                <a:lnTo>
                  <a:pt x="0" y="21019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TextBox 4"/>
          <p:cNvSpPr txBox="1"/>
          <p:nvPr/>
        </p:nvSpPr>
        <p:spPr>
          <a:xfrm>
            <a:off x="865901" y="2722422"/>
            <a:ext cx="8671800" cy="638188"/>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Capstone Project #2</a:t>
            </a:r>
          </a:p>
        </p:txBody>
      </p:sp>
      <p:sp>
        <p:nvSpPr>
          <p:cNvPr id="5" name="TextBox 5"/>
          <p:cNvSpPr txBox="1"/>
          <p:nvPr/>
        </p:nvSpPr>
        <p:spPr>
          <a:xfrm>
            <a:off x="865901" y="4097737"/>
            <a:ext cx="6045000" cy="363241"/>
          </a:xfrm>
          <a:prstGeom prst="rect">
            <a:avLst/>
          </a:prstGeom>
        </p:spPr>
        <p:txBody>
          <a:bodyPr lIns="0" tIns="0" rIns="0" bIns="0" rtlCol="0" anchor="t">
            <a:spAutoFit/>
          </a:bodyPr>
          <a:lstStyle/>
          <a:p>
            <a:pPr algn="l">
              <a:lnSpc>
                <a:spcPts val="2879"/>
              </a:lnSpc>
            </a:pPr>
            <a:r>
              <a:rPr lang="en-US" sz="2400" dirty="0">
                <a:solidFill>
                  <a:srgbClr val="00B3E3"/>
                </a:solidFill>
                <a:latin typeface="Arial MT Pro"/>
                <a:ea typeface="Arial MT Pro"/>
                <a:cs typeface="Arial MT Pro"/>
                <a:sym typeface="Arial MT Pro"/>
              </a:rPr>
              <a:t>SIC – AI701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4414311"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Agenda</a:t>
            </a:r>
          </a:p>
        </p:txBody>
      </p:sp>
      <p:sp>
        <p:nvSpPr>
          <p:cNvPr id="7" name="TextBox 7"/>
          <p:cNvSpPr txBox="1"/>
          <p:nvPr/>
        </p:nvSpPr>
        <p:spPr>
          <a:xfrm>
            <a:off x="190678" y="1729323"/>
            <a:ext cx="8803152" cy="3411190"/>
          </a:xfrm>
          <a:prstGeom prst="rect">
            <a:avLst/>
          </a:prstGeom>
        </p:spPr>
        <p:txBody>
          <a:bodyPr lIns="0" tIns="0" rIns="0" bIns="0" rtlCol="0" anchor="t">
            <a:spAutoFit/>
          </a:bodyPr>
          <a:lstStyle/>
          <a:p>
            <a:pPr marL="690871" lvl="1" indent="-345435" algn="l">
              <a:lnSpc>
                <a:spcPts val="3839"/>
              </a:lnSpc>
              <a:buFont typeface="Arial"/>
              <a:buChar char="•"/>
            </a:pPr>
            <a:r>
              <a:rPr lang="en-US" sz="3199" dirty="0">
                <a:solidFill>
                  <a:srgbClr val="7F7F7F"/>
                </a:solidFill>
                <a:latin typeface="Arimo"/>
                <a:ea typeface="Arimo"/>
                <a:cs typeface="Arimo"/>
                <a:sym typeface="Arimo"/>
              </a:rPr>
              <a:t>Team Members</a:t>
            </a:r>
          </a:p>
          <a:p>
            <a:pPr marL="690871" lvl="1" indent="-345435" algn="l">
              <a:lnSpc>
                <a:spcPts val="3839"/>
              </a:lnSpc>
              <a:buFont typeface="Arial"/>
              <a:buChar char="•"/>
            </a:pPr>
            <a:r>
              <a:rPr lang="en-US" sz="3199" dirty="0">
                <a:solidFill>
                  <a:srgbClr val="7F7F7F"/>
                </a:solidFill>
                <a:latin typeface="Arimo"/>
                <a:ea typeface="Arimo"/>
                <a:cs typeface="Arimo"/>
                <a:sym typeface="Arimo"/>
              </a:rPr>
              <a:t>Project Summary and Problem Statement</a:t>
            </a:r>
          </a:p>
          <a:p>
            <a:pPr marL="690871" lvl="1" indent="-345435" algn="l">
              <a:lnSpc>
                <a:spcPts val="3839"/>
              </a:lnSpc>
              <a:buFont typeface="Arial"/>
              <a:buChar char="•"/>
            </a:pPr>
            <a:r>
              <a:rPr lang="en-US" sz="3199" dirty="0">
                <a:solidFill>
                  <a:srgbClr val="7F7F7F"/>
                </a:solidFill>
                <a:latin typeface="Arimo"/>
                <a:ea typeface="Arimo"/>
                <a:cs typeface="Arimo"/>
                <a:sym typeface="Arimo"/>
              </a:rPr>
              <a:t>Data cleaning &amp; Preprocessing</a:t>
            </a:r>
          </a:p>
          <a:p>
            <a:pPr marL="690871" lvl="1" indent="-345435" algn="l">
              <a:lnSpc>
                <a:spcPts val="3839"/>
              </a:lnSpc>
              <a:buFont typeface="Arial"/>
              <a:buChar char="•"/>
            </a:pPr>
            <a:r>
              <a:rPr lang="en-US" sz="3199" dirty="0">
                <a:solidFill>
                  <a:srgbClr val="7F7F7F"/>
                </a:solidFill>
                <a:latin typeface="Arimo"/>
                <a:ea typeface="Arimo"/>
                <a:cs typeface="Arimo"/>
                <a:sym typeface="Arimo"/>
              </a:rPr>
              <a:t>Exploratory Data Analysis</a:t>
            </a:r>
          </a:p>
          <a:p>
            <a:pPr marL="690871" lvl="1" indent="-345435" algn="l">
              <a:lnSpc>
                <a:spcPts val="3839"/>
              </a:lnSpc>
              <a:buFont typeface="Arial"/>
              <a:buChar char="•"/>
            </a:pPr>
            <a:r>
              <a:rPr lang="en-US" sz="3199" dirty="0">
                <a:solidFill>
                  <a:srgbClr val="7F7F7F"/>
                </a:solidFill>
                <a:latin typeface="Arimo"/>
                <a:ea typeface="Arimo"/>
                <a:cs typeface="Arimo"/>
                <a:sym typeface="Arimo"/>
              </a:rPr>
              <a:t>Machine Learning Model &amp; Evaluation</a:t>
            </a:r>
          </a:p>
          <a:p>
            <a:pPr marL="690871" lvl="1" indent="-345435" algn="l">
              <a:lnSpc>
                <a:spcPts val="3839"/>
              </a:lnSpc>
              <a:buFont typeface="Arial"/>
              <a:buChar char="•"/>
            </a:pPr>
            <a:r>
              <a:rPr lang="en-US" sz="3199" dirty="0">
                <a:solidFill>
                  <a:srgbClr val="7F7F7F"/>
                </a:solidFill>
                <a:latin typeface="Arimo"/>
                <a:ea typeface="Arimo"/>
                <a:cs typeface="Arimo"/>
                <a:sym typeface="Arimo"/>
              </a:rPr>
              <a:t>Conclusion, Recommendations, &amp; Future Work</a:t>
            </a:r>
          </a:p>
        </p:txBody>
      </p:sp>
    </p:spTree>
  </p:cSld>
  <p:clrMapOvr>
    <a:masterClrMapping/>
  </p:clrMapOvr>
  <p:transition>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9" name="TextBox 9"/>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10" name="TextBox 10"/>
          <p:cNvSpPr txBox="1"/>
          <p:nvPr/>
        </p:nvSpPr>
        <p:spPr>
          <a:xfrm>
            <a:off x="2942991" y="193852"/>
            <a:ext cx="4414311" cy="723900"/>
          </a:xfrm>
          <a:prstGeom prst="rect">
            <a:avLst/>
          </a:prstGeom>
        </p:spPr>
        <p:txBody>
          <a:bodyPr lIns="0" tIns="0" rIns="0" bIns="0" rtlCol="0" anchor="t">
            <a:spAutoFit/>
          </a:bodyPr>
          <a:lstStyle/>
          <a:p>
            <a:pPr algn="l">
              <a:lnSpc>
                <a:spcPts val="5039"/>
              </a:lnSpc>
            </a:pPr>
            <a:r>
              <a:rPr lang="en-US" sz="4199">
                <a:solidFill>
                  <a:srgbClr val="FFFFFF"/>
                </a:solidFill>
                <a:latin typeface="Arial MT Pro"/>
                <a:ea typeface="Arial MT Pro"/>
                <a:cs typeface="Arial MT Pro"/>
                <a:sym typeface="Arial MT Pro"/>
              </a:rPr>
              <a:t>Team Members</a:t>
            </a:r>
          </a:p>
        </p:txBody>
      </p:sp>
      <p:sp>
        <p:nvSpPr>
          <p:cNvPr id="16" name="TextBox 15">
            <a:extLst>
              <a:ext uri="{FF2B5EF4-FFF2-40B4-BE49-F238E27FC236}">
                <a16:creationId xmlns:a16="http://schemas.microsoft.com/office/drawing/2014/main" id="{ACD279DF-F89B-B863-286D-40315B706057}"/>
              </a:ext>
            </a:extLst>
          </p:cNvPr>
          <p:cNvSpPr txBox="1"/>
          <p:nvPr/>
        </p:nvSpPr>
        <p:spPr>
          <a:xfrm>
            <a:off x="146050" y="1524000"/>
            <a:ext cx="4048031" cy="1554272"/>
          </a:xfrm>
          <a:prstGeom prst="rect">
            <a:avLst/>
          </a:prstGeom>
          <a:noFill/>
        </p:spPr>
        <p:txBody>
          <a:bodyPr wrap="none" rtlCol="0">
            <a:spAutoFit/>
          </a:bodyPr>
          <a:lstStyle/>
          <a:p>
            <a:pPr marL="690871" lvl="1" indent="-345435">
              <a:lnSpc>
                <a:spcPts val="3839"/>
              </a:lnSpc>
              <a:buFont typeface="Arial"/>
              <a:buChar char="•"/>
            </a:pPr>
            <a:r>
              <a:rPr lang="en-US" sz="3199" dirty="0">
                <a:solidFill>
                  <a:srgbClr val="7F7F7F"/>
                </a:solidFill>
                <a:latin typeface="Arimo"/>
                <a:ea typeface="Arimo"/>
                <a:cs typeface="Arimo"/>
                <a:sym typeface="Arimo"/>
              </a:rPr>
              <a:t>Mostafa Ahmed</a:t>
            </a:r>
          </a:p>
          <a:p>
            <a:pPr marL="690871" lvl="1" indent="-345435">
              <a:lnSpc>
                <a:spcPts val="3839"/>
              </a:lnSpc>
              <a:buFont typeface="Arial"/>
              <a:buChar char="•"/>
            </a:pPr>
            <a:r>
              <a:rPr lang="en-US" sz="3199" dirty="0">
                <a:solidFill>
                  <a:srgbClr val="7F7F7F"/>
                </a:solidFill>
                <a:latin typeface="Arimo"/>
                <a:ea typeface="Arimo"/>
                <a:cs typeface="Arimo"/>
                <a:sym typeface="Arimo"/>
              </a:rPr>
              <a:t>Mohamed Adel</a:t>
            </a:r>
          </a:p>
          <a:p>
            <a:pPr marL="690871" lvl="1" indent="-345435">
              <a:lnSpc>
                <a:spcPts val="3839"/>
              </a:lnSpc>
              <a:buFont typeface="Arial"/>
              <a:buChar char="•"/>
            </a:pPr>
            <a:r>
              <a:rPr lang="en-US" sz="3199" dirty="0">
                <a:solidFill>
                  <a:srgbClr val="7F7F7F"/>
                </a:solidFill>
                <a:latin typeface="Arimo"/>
                <a:ea typeface="Arimo"/>
                <a:cs typeface="Arimo"/>
                <a:sym typeface="Arimo"/>
              </a:rPr>
              <a:t>Omar </a:t>
            </a:r>
            <a:r>
              <a:rPr lang="en-US" sz="3199" dirty="0" err="1">
                <a:solidFill>
                  <a:srgbClr val="7F7F7F"/>
                </a:solidFill>
                <a:latin typeface="Arimo"/>
                <a:ea typeface="Arimo"/>
                <a:cs typeface="Arimo"/>
                <a:sym typeface="Arimo"/>
              </a:rPr>
              <a:t>Abdelrazek</a:t>
            </a:r>
            <a:endParaRPr lang="en-US" sz="3199" dirty="0">
              <a:solidFill>
                <a:srgbClr val="7F7F7F"/>
              </a:solidFill>
              <a:latin typeface="Arimo"/>
              <a:ea typeface="Arimo"/>
              <a:cs typeface="Arimo"/>
              <a:sym typeface="Arimo"/>
            </a:endParaRPr>
          </a:p>
        </p:txBody>
      </p:sp>
    </p:spTree>
  </p:cSld>
  <p:clrMapOvr>
    <a:masterClrMapping/>
  </p:clrMapOvr>
  <p:transition>
    <p:push/>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888625"/>
            <a:ext cx="7008600" cy="1317861"/>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Project Summary and Problem Statement</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GB"/>
          </a:p>
        </p:txBody>
      </p:sp>
    </p:spTree>
  </p:cSld>
  <p:clrMapOvr>
    <a:masterClrMapping/>
  </p:clrMapOvr>
  <p:transition>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Freeform 5"/>
          <p:cNvSpPr/>
          <p:nvPr/>
        </p:nvSpPr>
        <p:spPr>
          <a:xfrm>
            <a:off x="2248125" y="4072357"/>
            <a:ext cx="4931371" cy="2146597"/>
          </a:xfrm>
          <a:custGeom>
            <a:avLst/>
            <a:gdLst/>
            <a:ahLst/>
            <a:cxnLst/>
            <a:rect l="l" t="t" r="r" b="b"/>
            <a:pathLst>
              <a:path w="4931371" h="2146597">
                <a:moveTo>
                  <a:pt x="0" y="0"/>
                </a:moveTo>
                <a:lnTo>
                  <a:pt x="4931371" y="0"/>
                </a:lnTo>
                <a:lnTo>
                  <a:pt x="4931371" y="2146597"/>
                </a:lnTo>
                <a:lnTo>
                  <a:pt x="0" y="2146597"/>
                </a:lnTo>
                <a:lnTo>
                  <a:pt x="0" y="0"/>
                </a:lnTo>
                <a:close/>
              </a:path>
            </a:pathLst>
          </a:custGeom>
          <a:blipFill>
            <a:blip r:embed="rId2"/>
            <a:stretch>
              <a:fillRect/>
            </a:stretch>
          </a:blipFill>
        </p:spPr>
        <p:txBody>
          <a:bodyPr/>
          <a:lstStyle/>
          <a:p>
            <a:endParaRPr lang="en-GB"/>
          </a:p>
        </p:txBody>
      </p:sp>
      <p:sp>
        <p:nvSpPr>
          <p:cNvPr id="6" name="TextBox 6"/>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7" name="TextBox 7"/>
          <p:cNvSpPr txBox="1"/>
          <p:nvPr/>
        </p:nvSpPr>
        <p:spPr>
          <a:xfrm>
            <a:off x="449106" y="270052"/>
            <a:ext cx="6730389" cy="641201"/>
          </a:xfrm>
          <a:prstGeom prst="rect">
            <a:avLst/>
          </a:prstGeom>
        </p:spPr>
        <p:txBody>
          <a:bodyPr lIns="0" tIns="0" rIns="0" bIns="0" rtlCol="0" anchor="t">
            <a:spAutoFit/>
          </a:bodyPr>
          <a:lstStyle/>
          <a:p>
            <a:pPr algn="l">
              <a:lnSpc>
                <a:spcPts val="5039"/>
              </a:lnSpc>
            </a:pPr>
            <a:r>
              <a:rPr lang="en-US" sz="4199" dirty="0">
                <a:solidFill>
                  <a:srgbClr val="FFFFFF"/>
                </a:solidFill>
                <a:latin typeface="Arial MT Pro"/>
                <a:ea typeface="Arial MT Pro"/>
                <a:cs typeface="Arial MT Pro"/>
                <a:sym typeface="Arial MT Pro"/>
              </a:rPr>
              <a:t>Project Summary</a:t>
            </a:r>
          </a:p>
        </p:txBody>
      </p:sp>
      <p:graphicFrame>
        <p:nvGraphicFramePr>
          <p:cNvPr id="10" name="TextBox 8">
            <a:extLst>
              <a:ext uri="{FF2B5EF4-FFF2-40B4-BE49-F238E27FC236}">
                <a16:creationId xmlns:a16="http://schemas.microsoft.com/office/drawing/2014/main" id="{448B40A3-8656-8E1D-0E9B-652B8EBCB6A4}"/>
              </a:ext>
            </a:extLst>
          </p:cNvPr>
          <p:cNvGraphicFramePr/>
          <p:nvPr/>
        </p:nvGraphicFramePr>
        <p:xfrm>
          <a:off x="330266" y="1489686"/>
          <a:ext cx="9559859" cy="26846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84FBA-B570-58AB-3A59-A005ADB6003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E55BF44-D8C6-90F4-35F8-4A912B3AAC35}"/>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BA9DB28F-262A-1CB6-A9F3-70F1C3455BC4}"/>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4" name="AutoShape 4">
            <a:extLst>
              <a:ext uri="{FF2B5EF4-FFF2-40B4-BE49-F238E27FC236}">
                <a16:creationId xmlns:a16="http://schemas.microsoft.com/office/drawing/2014/main" id="{12E42899-4F2B-E20C-A761-E855A24585F2}"/>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6" name="TextBox 6">
            <a:extLst>
              <a:ext uri="{FF2B5EF4-FFF2-40B4-BE49-F238E27FC236}">
                <a16:creationId xmlns:a16="http://schemas.microsoft.com/office/drawing/2014/main" id="{970D9CE6-8702-B7CB-997E-1EB3A8276F7E}"/>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7" name="TextBox 7">
            <a:extLst>
              <a:ext uri="{FF2B5EF4-FFF2-40B4-BE49-F238E27FC236}">
                <a16:creationId xmlns:a16="http://schemas.microsoft.com/office/drawing/2014/main" id="{6CF43274-A30F-72CE-A328-A4261920EA02}"/>
              </a:ext>
            </a:extLst>
          </p:cNvPr>
          <p:cNvSpPr txBox="1"/>
          <p:nvPr/>
        </p:nvSpPr>
        <p:spPr>
          <a:xfrm>
            <a:off x="449106" y="270052"/>
            <a:ext cx="6730389" cy="641201"/>
          </a:xfrm>
          <a:prstGeom prst="rect">
            <a:avLst/>
          </a:prstGeom>
        </p:spPr>
        <p:txBody>
          <a:bodyPr lIns="0" tIns="0" rIns="0" bIns="0" rtlCol="0" anchor="t">
            <a:spAutoFit/>
          </a:bodyPr>
          <a:lstStyle/>
          <a:p>
            <a:pPr algn="l">
              <a:lnSpc>
                <a:spcPts val="5039"/>
              </a:lnSpc>
            </a:pPr>
            <a:r>
              <a:rPr lang="en-US" sz="4199" dirty="0">
                <a:solidFill>
                  <a:srgbClr val="FFFFFF"/>
                </a:solidFill>
                <a:latin typeface="Arial MT Pro"/>
                <a:ea typeface="Arial MT Pro"/>
                <a:cs typeface="Arial MT Pro"/>
                <a:sym typeface="Arial MT Pro"/>
              </a:rPr>
              <a:t>Dataset Description</a:t>
            </a:r>
          </a:p>
        </p:txBody>
      </p:sp>
      <p:sp>
        <p:nvSpPr>
          <p:cNvPr id="12" name="TextBox 11">
            <a:extLst>
              <a:ext uri="{FF2B5EF4-FFF2-40B4-BE49-F238E27FC236}">
                <a16:creationId xmlns:a16="http://schemas.microsoft.com/office/drawing/2014/main" id="{2291072E-D5B7-230B-26C7-ACCC169D49F8}"/>
              </a:ext>
            </a:extLst>
          </p:cNvPr>
          <p:cNvSpPr txBox="1"/>
          <p:nvPr/>
        </p:nvSpPr>
        <p:spPr>
          <a:xfrm>
            <a:off x="-12700" y="1309327"/>
            <a:ext cx="9601200" cy="5242461"/>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We got our dataset from Kaggle, available </a:t>
            </a:r>
            <a:r>
              <a:rPr lang="en-US" sz="2400" dirty="0">
                <a:solidFill>
                  <a:srgbClr val="7F7F7F"/>
                </a:solidFill>
                <a:latin typeface="Arimo"/>
                <a:ea typeface="Arimo"/>
                <a:cs typeface="Arimo"/>
                <a:sym typeface="Arimo"/>
                <a:hlinkClick r:id="rId2"/>
              </a:rPr>
              <a:t>here</a:t>
            </a:r>
            <a:endParaRPr lang="en-US" sz="2400" dirty="0">
              <a:solidFill>
                <a:srgbClr val="7F7F7F"/>
              </a:solidFill>
              <a:latin typeface="Arimo"/>
              <a:ea typeface="Arimo"/>
              <a:cs typeface="Arimo"/>
              <a:sym typeface="Arimo"/>
            </a:endParaRPr>
          </a:p>
          <a:p>
            <a:pPr marL="690871" lvl="1" indent="-345435">
              <a:lnSpc>
                <a:spcPts val="3839"/>
              </a:lnSpc>
              <a:buFont typeface="Arial"/>
              <a:buChar char="•"/>
            </a:pPr>
            <a:r>
              <a:rPr lang="en-US" sz="2400" dirty="0">
                <a:solidFill>
                  <a:srgbClr val="7F7F7F"/>
                </a:solidFill>
                <a:latin typeface="Arimo"/>
                <a:ea typeface="Arimo"/>
                <a:cs typeface="Arimo"/>
                <a:sym typeface="Arimo"/>
              </a:rPr>
              <a:t>Its size is around 100k records and 24 features</a:t>
            </a:r>
          </a:p>
          <a:p>
            <a:pPr marL="690871" lvl="1" indent="-345435">
              <a:lnSpc>
                <a:spcPts val="3839"/>
              </a:lnSpc>
              <a:buFont typeface="Arial"/>
              <a:buChar char="•"/>
            </a:pPr>
            <a:r>
              <a:rPr lang="en-US" sz="2400" dirty="0">
                <a:solidFill>
                  <a:srgbClr val="7F7F7F"/>
                </a:solidFill>
                <a:latin typeface="Arimo"/>
                <a:ea typeface="Arimo"/>
                <a:cs typeface="Arimo"/>
                <a:sym typeface="Arimo"/>
              </a:rPr>
              <a:t>Some of these features are based on the passenger’s feedback</a:t>
            </a:r>
          </a:p>
          <a:p>
            <a:pPr marL="690871" lvl="1" indent="-345435">
              <a:lnSpc>
                <a:spcPts val="3839"/>
              </a:lnSpc>
              <a:buFont typeface="Arial"/>
              <a:buChar char="•"/>
            </a:pPr>
            <a:r>
              <a:rPr lang="en-US" sz="2400" dirty="0">
                <a:solidFill>
                  <a:srgbClr val="7F7F7F"/>
                </a:solidFill>
                <a:latin typeface="Arimo"/>
                <a:ea typeface="Arimo"/>
                <a:cs typeface="Arimo"/>
                <a:sym typeface="Arimo"/>
              </a:rPr>
              <a:t>It contains several features like:</a:t>
            </a:r>
          </a:p>
          <a:p>
            <a:pPr marL="1148071" lvl="2" indent="-345435">
              <a:lnSpc>
                <a:spcPts val="3839"/>
              </a:lnSpc>
              <a:buFont typeface="Arial"/>
              <a:buChar char="•"/>
            </a:pPr>
            <a:r>
              <a:rPr lang="en-US" sz="2400" dirty="0">
                <a:solidFill>
                  <a:srgbClr val="7F7F7F"/>
                </a:solidFill>
                <a:latin typeface="Arimo"/>
                <a:ea typeface="Arimo"/>
                <a:cs typeface="Arimo"/>
                <a:sym typeface="Arimo"/>
              </a:rPr>
              <a:t>Gender</a:t>
            </a:r>
          </a:p>
          <a:p>
            <a:pPr marL="1148071" lvl="2" indent="-345435">
              <a:lnSpc>
                <a:spcPts val="3839"/>
              </a:lnSpc>
              <a:buFont typeface="Arial"/>
              <a:buChar char="•"/>
            </a:pPr>
            <a:r>
              <a:rPr lang="en-US" sz="2400" dirty="0">
                <a:solidFill>
                  <a:srgbClr val="7F7F7F"/>
                </a:solidFill>
                <a:latin typeface="Arimo"/>
                <a:ea typeface="Arimo"/>
                <a:cs typeface="Arimo"/>
                <a:sym typeface="Arimo"/>
              </a:rPr>
              <a:t>Customer Loyalty</a:t>
            </a:r>
          </a:p>
          <a:p>
            <a:pPr marL="1148071" lvl="2" indent="-345435">
              <a:lnSpc>
                <a:spcPts val="3839"/>
              </a:lnSpc>
              <a:buFont typeface="Arial"/>
              <a:buChar char="•"/>
            </a:pPr>
            <a:r>
              <a:rPr lang="en-US" sz="2400" dirty="0">
                <a:solidFill>
                  <a:srgbClr val="7F7F7F"/>
                </a:solidFill>
                <a:latin typeface="Arimo"/>
                <a:ea typeface="Arimo"/>
                <a:cs typeface="Arimo"/>
                <a:sym typeface="Arimo"/>
              </a:rPr>
              <a:t>Type of Travel</a:t>
            </a:r>
          </a:p>
          <a:p>
            <a:pPr marL="1148071" lvl="2" indent="-345435">
              <a:lnSpc>
                <a:spcPts val="3839"/>
              </a:lnSpc>
              <a:buFont typeface="Arial"/>
              <a:buChar char="•"/>
            </a:pPr>
            <a:r>
              <a:rPr lang="en-US" sz="2400" dirty="0">
                <a:solidFill>
                  <a:srgbClr val="7F7F7F"/>
                </a:solidFill>
                <a:latin typeface="Arimo"/>
                <a:ea typeface="Arimo"/>
                <a:cs typeface="Arimo"/>
                <a:sym typeface="Arimo"/>
              </a:rPr>
              <a:t>Satisfaction (our target in ML model)</a:t>
            </a:r>
          </a:p>
          <a:p>
            <a:pPr marL="1148071" lvl="2" indent="-345435">
              <a:lnSpc>
                <a:spcPts val="3839"/>
              </a:lnSpc>
              <a:buFont typeface="Arial"/>
              <a:buChar char="•"/>
            </a:pPr>
            <a:r>
              <a:rPr lang="en-US" sz="2400" dirty="0">
                <a:solidFill>
                  <a:srgbClr val="7F7F7F"/>
                </a:solidFill>
                <a:latin typeface="Arimo"/>
                <a:ea typeface="Arimo"/>
                <a:cs typeface="Arimo"/>
                <a:sym typeface="Arimo"/>
              </a:rPr>
              <a:t>Class</a:t>
            </a:r>
          </a:p>
          <a:p>
            <a:pPr marL="1148071" lvl="2" indent="-345435">
              <a:lnSpc>
                <a:spcPts val="3839"/>
              </a:lnSpc>
              <a:buFont typeface="Arial"/>
              <a:buChar char="•"/>
            </a:pPr>
            <a:r>
              <a:rPr lang="en-US" sz="2400" dirty="0">
                <a:solidFill>
                  <a:srgbClr val="7F7F7F"/>
                </a:solidFill>
                <a:latin typeface="Arimo"/>
                <a:ea typeface="Arimo"/>
                <a:cs typeface="Arimo"/>
                <a:sym typeface="Arimo"/>
              </a:rPr>
              <a:t>And more…</a:t>
            </a:r>
          </a:p>
          <a:p>
            <a:endParaRPr lang="en-GB" dirty="0"/>
          </a:p>
        </p:txBody>
      </p:sp>
    </p:spTree>
    <p:extLst>
      <p:ext uri="{BB962C8B-B14F-4D97-AF65-F5344CB8AC3E}">
        <p14:creationId xmlns:p14="http://schemas.microsoft.com/office/powerpoint/2010/main" val="3450909364"/>
      </p:ext>
    </p:extLst>
  </p:cSld>
  <p:clrMapOvr>
    <a:masterClrMapping/>
  </p:clrMapOvr>
  <p:transition>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1317861"/>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Data Cleaning &amp; Preprocessing</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GB"/>
          </a:p>
        </p:txBody>
      </p:sp>
    </p:spTree>
  </p:cSld>
  <p:clrMapOvr>
    <a:masterClrMapping/>
  </p:clrMapOvr>
  <p:transition>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449106" y="270052"/>
            <a:ext cx="6730389" cy="641201"/>
          </a:xfrm>
          <a:prstGeom prst="rect">
            <a:avLst/>
          </a:prstGeom>
        </p:spPr>
        <p:txBody>
          <a:bodyPr lIns="0" tIns="0" rIns="0" bIns="0" rtlCol="0" anchor="t">
            <a:spAutoFit/>
          </a:bodyPr>
          <a:lstStyle/>
          <a:p>
            <a:pPr algn="l">
              <a:lnSpc>
                <a:spcPts val="5039"/>
              </a:lnSpc>
            </a:pPr>
            <a:r>
              <a:rPr lang="en-US" sz="4199" dirty="0">
                <a:solidFill>
                  <a:srgbClr val="FFFFFF"/>
                </a:solidFill>
                <a:latin typeface="Arial MT Pro"/>
                <a:ea typeface="Arial MT Pro"/>
                <a:cs typeface="Arial MT Pro"/>
                <a:sym typeface="Arial MT Pro"/>
              </a:rPr>
              <a:t>Data Cleaning</a:t>
            </a:r>
          </a:p>
        </p:txBody>
      </p:sp>
      <p:sp>
        <p:nvSpPr>
          <p:cNvPr id="8" name="TextBox 7">
            <a:extLst>
              <a:ext uri="{FF2B5EF4-FFF2-40B4-BE49-F238E27FC236}">
                <a16:creationId xmlns:a16="http://schemas.microsoft.com/office/drawing/2014/main" id="{F34884A8-8FE1-4FEC-2C72-ECF3B1918F7B}"/>
              </a:ext>
            </a:extLst>
          </p:cNvPr>
          <p:cNvSpPr txBox="1"/>
          <p:nvPr/>
        </p:nvSpPr>
        <p:spPr>
          <a:xfrm>
            <a:off x="-12700" y="1295400"/>
            <a:ext cx="9455150" cy="5400966"/>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First, we tried to search for null values  in all columns, we find only around 300 missing values in the ‘Arrival Delay in Minutes’ column.</a:t>
            </a:r>
          </a:p>
          <a:p>
            <a:pPr marL="690871" lvl="1" indent="-345435">
              <a:lnSpc>
                <a:spcPts val="3839"/>
              </a:lnSpc>
              <a:buFont typeface="Arial"/>
              <a:buChar char="•"/>
            </a:pPr>
            <a:r>
              <a:rPr lang="en-US" sz="2400" dirty="0">
                <a:solidFill>
                  <a:srgbClr val="7F7F7F"/>
                </a:solidFill>
                <a:latin typeface="Arimo"/>
                <a:ea typeface="Arimo"/>
                <a:cs typeface="Arimo"/>
                <a:sym typeface="Arimo"/>
              </a:rPr>
              <a:t>Instead of dropping them (being so small compared to the whole dataset), we filled them with the median of the column (median, not mean, in case of existing outliers)</a:t>
            </a:r>
          </a:p>
          <a:p>
            <a:pPr marL="690871" lvl="1" indent="-345435">
              <a:lnSpc>
                <a:spcPts val="3839"/>
              </a:lnSpc>
              <a:buFont typeface="Arial"/>
              <a:buChar char="•"/>
            </a:pPr>
            <a:r>
              <a:rPr lang="en-US" sz="2400" dirty="0">
                <a:solidFill>
                  <a:srgbClr val="7F7F7F"/>
                </a:solidFill>
                <a:latin typeface="Arimo"/>
                <a:ea typeface="Arimo"/>
                <a:cs typeface="Arimo"/>
                <a:sym typeface="Arimo"/>
              </a:rPr>
              <a:t>Second, we dropped the ‘Unnamed’, and ‘id’ columns, they have no effect on the rest of columns</a:t>
            </a:r>
          </a:p>
          <a:p>
            <a:pPr marL="690871" lvl="1" indent="-345435">
              <a:lnSpc>
                <a:spcPts val="3839"/>
              </a:lnSpc>
              <a:buFont typeface="Arial"/>
              <a:buChar char="•"/>
            </a:pPr>
            <a:r>
              <a:rPr lang="en-US" sz="2400" dirty="0">
                <a:solidFill>
                  <a:srgbClr val="7F7F7F"/>
                </a:solidFill>
                <a:latin typeface="Arimo"/>
                <a:ea typeface="Arimo"/>
                <a:cs typeface="Arimo"/>
                <a:sym typeface="Arimo"/>
              </a:rPr>
              <a:t>Third, we found many categorical columns that are int64 data type, we changed that to a suitable one for categorical values</a:t>
            </a:r>
          </a:p>
          <a:p>
            <a:pPr marL="345436" lvl="1">
              <a:lnSpc>
                <a:spcPts val="3839"/>
              </a:lnSpc>
            </a:pPr>
            <a:endParaRPr lang="en-US" sz="2400" dirty="0">
              <a:solidFill>
                <a:srgbClr val="7F7F7F"/>
              </a:solidFill>
              <a:latin typeface="Arimo"/>
              <a:ea typeface="Arimo"/>
              <a:cs typeface="Arimo"/>
              <a:sym typeface="Arimo"/>
            </a:endParaRPr>
          </a:p>
        </p:txBody>
      </p:sp>
    </p:spTree>
  </p:cSld>
  <p:clrMapOvr>
    <a:masterClrMapping/>
  </p:clrMapOvr>
  <p:transition>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C8180-7D1F-072D-8182-69B55EF1C1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5C3A8D39-89F3-3AA7-65B2-13260343CEC4}"/>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31B54CBA-99D3-C4BB-2713-0313962D2BEC}"/>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a:p>
          </p:txBody>
        </p:sp>
      </p:grpSp>
      <p:sp>
        <p:nvSpPr>
          <p:cNvPr id="5" name="TextBox 5">
            <a:extLst>
              <a:ext uri="{FF2B5EF4-FFF2-40B4-BE49-F238E27FC236}">
                <a16:creationId xmlns:a16="http://schemas.microsoft.com/office/drawing/2014/main" id="{76D09EFD-A886-54D4-B323-04DBA52CFED5}"/>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FAA1FD85-56DD-9ADF-7777-9DF4BF9469EA}"/>
              </a:ext>
            </a:extLst>
          </p:cNvPr>
          <p:cNvSpPr txBox="1"/>
          <p:nvPr/>
        </p:nvSpPr>
        <p:spPr>
          <a:xfrm>
            <a:off x="449106" y="270052"/>
            <a:ext cx="6730389" cy="641201"/>
          </a:xfrm>
          <a:prstGeom prst="rect">
            <a:avLst/>
          </a:prstGeom>
        </p:spPr>
        <p:txBody>
          <a:bodyPr lIns="0" tIns="0" rIns="0" bIns="0" rtlCol="0" anchor="t">
            <a:spAutoFit/>
          </a:bodyPr>
          <a:lstStyle/>
          <a:p>
            <a:pPr algn="l">
              <a:lnSpc>
                <a:spcPts val="5039"/>
              </a:lnSpc>
            </a:pPr>
            <a:r>
              <a:rPr lang="en-US" sz="4199" dirty="0">
                <a:solidFill>
                  <a:srgbClr val="FFFFFF"/>
                </a:solidFill>
                <a:latin typeface="Arial MT Pro"/>
                <a:ea typeface="Arial MT Pro"/>
                <a:cs typeface="Arial MT Pro"/>
                <a:sym typeface="Arial MT Pro"/>
              </a:rPr>
              <a:t>Data Cleaning</a:t>
            </a:r>
          </a:p>
        </p:txBody>
      </p:sp>
      <p:sp>
        <p:nvSpPr>
          <p:cNvPr id="8" name="TextBox 7">
            <a:extLst>
              <a:ext uri="{FF2B5EF4-FFF2-40B4-BE49-F238E27FC236}">
                <a16:creationId xmlns:a16="http://schemas.microsoft.com/office/drawing/2014/main" id="{E4EF3289-DE41-7423-C35D-A73F643361BA}"/>
              </a:ext>
            </a:extLst>
          </p:cNvPr>
          <p:cNvSpPr txBox="1"/>
          <p:nvPr/>
        </p:nvSpPr>
        <p:spPr>
          <a:xfrm>
            <a:off x="-12700" y="1295400"/>
            <a:ext cx="9455150" cy="2477088"/>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Fourth, we did label or one-hot encoding for categorical columns</a:t>
            </a:r>
          </a:p>
          <a:p>
            <a:pPr marL="690871" lvl="1" indent="-345435">
              <a:lnSpc>
                <a:spcPts val="3839"/>
              </a:lnSpc>
              <a:buFont typeface="Arial"/>
              <a:buChar char="•"/>
            </a:pPr>
            <a:r>
              <a:rPr lang="en-US" sz="2400" dirty="0">
                <a:solidFill>
                  <a:srgbClr val="7F7F7F"/>
                </a:solidFill>
                <a:latin typeface="Arimo"/>
                <a:ea typeface="Arimo"/>
                <a:cs typeface="Arimo"/>
                <a:sym typeface="Arimo"/>
              </a:rPr>
              <a:t>Sixth, we did scale the data in order to be suitable for the Machine Learning model</a:t>
            </a:r>
          </a:p>
          <a:p>
            <a:pPr marL="690871" lvl="1" indent="-345435">
              <a:lnSpc>
                <a:spcPts val="3839"/>
              </a:lnSpc>
              <a:buFont typeface="Arial"/>
              <a:buChar char="•"/>
            </a:pPr>
            <a:endParaRPr lang="en-US" sz="2400" dirty="0">
              <a:solidFill>
                <a:srgbClr val="7F7F7F"/>
              </a:solidFill>
              <a:latin typeface="Arimo"/>
              <a:ea typeface="Arimo"/>
              <a:cs typeface="Arimo"/>
              <a:sym typeface="Arimo"/>
            </a:endParaRPr>
          </a:p>
        </p:txBody>
      </p:sp>
    </p:spTree>
    <p:extLst>
      <p:ext uri="{BB962C8B-B14F-4D97-AF65-F5344CB8AC3E}">
        <p14:creationId xmlns:p14="http://schemas.microsoft.com/office/powerpoint/2010/main" val="1110744708"/>
      </p:ext>
    </p:extLst>
  </p:cSld>
  <p:clrMapOvr>
    <a:masterClrMapping/>
  </p:clrMapOvr>
  <p:transition>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90607" y="2888625"/>
            <a:ext cx="7008600" cy="638188"/>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Exploratory Data Analysis</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GB"/>
          </a:p>
        </p:txBody>
      </p:sp>
    </p:spTree>
  </p:cSld>
  <p:clrMapOvr>
    <a:masterClrMapping/>
  </p:clrMapOvr>
  <p:transition>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700" y="0"/>
            <a:ext cx="9902825" cy="1197330"/>
            <a:chOff x="0" y="0"/>
            <a:chExt cx="13203767" cy="1596440"/>
          </a:xfrm>
        </p:grpSpPr>
        <p:sp>
          <p:nvSpPr>
            <p:cNvPr id="3" name="Freeform 3"/>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EDA</a:t>
            </a:r>
          </a:p>
        </p:txBody>
      </p:sp>
      <p:pic>
        <p:nvPicPr>
          <p:cNvPr id="13" name="Picture 12">
            <a:extLst>
              <a:ext uri="{FF2B5EF4-FFF2-40B4-BE49-F238E27FC236}">
                <a16:creationId xmlns:a16="http://schemas.microsoft.com/office/drawing/2014/main" id="{D645B5AE-C7CA-C06C-882F-4F4F4B5C6C00}"/>
              </a:ext>
            </a:extLst>
          </p:cNvPr>
          <p:cNvPicPr>
            <a:picLocks noChangeAspect="1"/>
          </p:cNvPicPr>
          <p:nvPr/>
        </p:nvPicPr>
        <p:blipFill>
          <a:blip r:embed="rId2"/>
          <a:stretch>
            <a:fillRect/>
          </a:stretch>
        </p:blipFill>
        <p:spPr>
          <a:xfrm>
            <a:off x="3424555" y="3200400"/>
            <a:ext cx="2759668" cy="2710192"/>
          </a:xfrm>
          <a:prstGeom prst="rect">
            <a:avLst/>
          </a:prstGeom>
        </p:spPr>
      </p:pic>
      <p:sp>
        <p:nvSpPr>
          <p:cNvPr id="11" name="TextBox 10">
            <a:extLst>
              <a:ext uri="{FF2B5EF4-FFF2-40B4-BE49-F238E27FC236}">
                <a16:creationId xmlns:a16="http://schemas.microsoft.com/office/drawing/2014/main" id="{D9FE2B70-0B8E-EAC8-2CCD-29C1641DE8EF}"/>
              </a:ext>
            </a:extLst>
          </p:cNvPr>
          <p:cNvSpPr txBox="1"/>
          <p:nvPr/>
        </p:nvSpPr>
        <p:spPr>
          <a:xfrm>
            <a:off x="306684" y="1567249"/>
            <a:ext cx="8382000" cy="1831271"/>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As a basic business question, we tried to find the percentage of satisfied customers to the total, and we found they are only 43.3% </a:t>
            </a:r>
          </a:p>
          <a:p>
            <a:endParaRPr lang="en-GB" dirty="0"/>
          </a:p>
        </p:txBody>
      </p:sp>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CF8DE-EE21-80EC-C8E8-5B6D43C9E1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487177E-A316-3EDD-0307-FC19FDF63440}"/>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F1C5A69B-CD04-0A89-8DB0-10E98D8DC363}"/>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1057C858-621D-213F-1662-3CA6CE8D8E1F}"/>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7FEAD6C7-62CB-5AA1-5BAB-D665617BF3F3}"/>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FB111684-7F99-1DF1-A69A-1DABAFDA2A82}"/>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EDA</a:t>
            </a:r>
          </a:p>
        </p:txBody>
      </p:sp>
      <p:pic>
        <p:nvPicPr>
          <p:cNvPr id="8" name="Picture 7">
            <a:extLst>
              <a:ext uri="{FF2B5EF4-FFF2-40B4-BE49-F238E27FC236}">
                <a16:creationId xmlns:a16="http://schemas.microsoft.com/office/drawing/2014/main" id="{D3E94AE2-31BF-27F3-BC14-56B22A6B8A94}"/>
              </a:ext>
            </a:extLst>
          </p:cNvPr>
          <p:cNvPicPr>
            <a:picLocks noChangeAspect="1"/>
          </p:cNvPicPr>
          <p:nvPr/>
        </p:nvPicPr>
        <p:blipFill>
          <a:blip r:embed="rId2"/>
          <a:stretch>
            <a:fillRect/>
          </a:stretch>
        </p:blipFill>
        <p:spPr>
          <a:xfrm>
            <a:off x="1806652" y="2701354"/>
            <a:ext cx="5577517" cy="3569140"/>
          </a:xfrm>
          <a:prstGeom prst="rect">
            <a:avLst/>
          </a:prstGeom>
        </p:spPr>
      </p:pic>
      <p:sp>
        <p:nvSpPr>
          <p:cNvPr id="11" name="TextBox 10">
            <a:extLst>
              <a:ext uri="{FF2B5EF4-FFF2-40B4-BE49-F238E27FC236}">
                <a16:creationId xmlns:a16="http://schemas.microsoft.com/office/drawing/2014/main" id="{D2FB103D-EED3-2AEB-2530-C5A077F911D1}"/>
              </a:ext>
            </a:extLst>
          </p:cNvPr>
          <p:cNvSpPr txBox="1"/>
          <p:nvPr/>
        </p:nvSpPr>
        <p:spPr>
          <a:xfrm>
            <a:off x="306684" y="1567249"/>
            <a:ext cx="9042104" cy="1831271"/>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We then asked the question, Does class affect passenger’s satisfaction? We found it to be True! As class gets higher as the satisfaction does</a:t>
            </a:r>
          </a:p>
          <a:p>
            <a:endParaRPr lang="en-GB" dirty="0"/>
          </a:p>
        </p:txBody>
      </p:sp>
    </p:spTree>
    <p:extLst>
      <p:ext uri="{BB962C8B-B14F-4D97-AF65-F5344CB8AC3E}">
        <p14:creationId xmlns:p14="http://schemas.microsoft.com/office/powerpoint/2010/main" val="361227484"/>
      </p:ext>
    </p:extLst>
  </p:cSld>
  <p:clrMapOvr>
    <a:masterClrMapping/>
  </p:clrMapOvr>
  <p:transition>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735CD-8316-2F2E-69F0-47531F35D7E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7D7D262-79BB-CDC8-2AF5-07202F261E0A}"/>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4368B757-DD26-737A-D0E0-BA45078D7666}"/>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0DC0AF9C-C43B-E643-A7E8-D4C58D96F08B}"/>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63C0B9DB-F1A4-C85E-FECE-3D1ED348F64A}"/>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90F4CC52-A1D0-D98A-7F54-875D958D40EC}"/>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EDA</a:t>
            </a:r>
          </a:p>
        </p:txBody>
      </p:sp>
      <p:sp>
        <p:nvSpPr>
          <p:cNvPr id="11" name="TextBox 10">
            <a:extLst>
              <a:ext uri="{FF2B5EF4-FFF2-40B4-BE49-F238E27FC236}">
                <a16:creationId xmlns:a16="http://schemas.microsoft.com/office/drawing/2014/main" id="{84471BCD-59E2-4A35-6F1E-87A2EB800622}"/>
              </a:ext>
            </a:extLst>
          </p:cNvPr>
          <p:cNvSpPr txBox="1"/>
          <p:nvPr/>
        </p:nvSpPr>
        <p:spPr>
          <a:xfrm>
            <a:off x="306684" y="1567249"/>
            <a:ext cx="8382000" cy="1023998"/>
          </a:xfrm>
          <a:prstGeom prst="rect">
            <a:avLst/>
          </a:prstGeom>
          <a:noFill/>
        </p:spPr>
        <p:txBody>
          <a:bodyPr wrap="square" rtlCol="0">
            <a:spAutoFit/>
          </a:bodyPr>
          <a:lstStyle/>
          <a:p>
            <a:pPr marL="690871" lvl="1" indent="-345435">
              <a:lnSpc>
                <a:spcPts val="3839"/>
              </a:lnSpc>
              <a:buFont typeface="Arial"/>
              <a:buChar char="•"/>
            </a:pPr>
            <a:r>
              <a:rPr lang="en-US" sz="2400" dirty="0">
                <a:solidFill>
                  <a:srgbClr val="7F7F7F"/>
                </a:solidFill>
                <a:latin typeface="Arimo"/>
                <a:ea typeface="Arimo"/>
                <a:cs typeface="Arimo"/>
                <a:sym typeface="Arimo"/>
              </a:rPr>
              <a:t>What about Flight Delay? Nope, no effect (which is weird)</a:t>
            </a:r>
            <a:endParaRPr lang="en-GB" dirty="0"/>
          </a:p>
        </p:txBody>
      </p:sp>
      <p:pic>
        <p:nvPicPr>
          <p:cNvPr id="8" name="Picture 7">
            <a:extLst>
              <a:ext uri="{FF2B5EF4-FFF2-40B4-BE49-F238E27FC236}">
                <a16:creationId xmlns:a16="http://schemas.microsoft.com/office/drawing/2014/main" id="{20D55C96-9867-F87B-8FE1-730261EC0AF1}"/>
              </a:ext>
            </a:extLst>
          </p:cNvPr>
          <p:cNvPicPr>
            <a:picLocks noChangeAspect="1"/>
          </p:cNvPicPr>
          <p:nvPr/>
        </p:nvPicPr>
        <p:blipFill>
          <a:blip r:embed="rId2"/>
          <a:stretch>
            <a:fillRect/>
          </a:stretch>
        </p:blipFill>
        <p:spPr>
          <a:xfrm>
            <a:off x="1819075" y="2509743"/>
            <a:ext cx="6239305" cy="3733757"/>
          </a:xfrm>
          <a:prstGeom prst="rect">
            <a:avLst/>
          </a:prstGeom>
        </p:spPr>
      </p:pic>
    </p:spTree>
    <p:extLst>
      <p:ext uri="{BB962C8B-B14F-4D97-AF65-F5344CB8AC3E}">
        <p14:creationId xmlns:p14="http://schemas.microsoft.com/office/powerpoint/2010/main" val="1098840528"/>
      </p:ext>
    </p:extLst>
  </p:cSld>
  <p:clrMapOvr>
    <a:masterClrMapping/>
  </p:clrMapOvr>
  <p:transition>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9DF21-A88B-F790-7E07-5AE9B1A33A2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CF3275D-201A-BB18-2CF4-3425D71B3D0F}"/>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C611C0A0-496A-2DA7-5F29-3EBBC11E1C93}"/>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7A3F0084-BD38-9F17-2C7A-ED24B8013DB9}"/>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E21C2AC9-E0A6-8759-45AD-1C119E9662B3}"/>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8BB7D65C-0851-6A34-5E10-EB1C7736C528}"/>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EDA</a:t>
            </a:r>
          </a:p>
        </p:txBody>
      </p:sp>
      <p:pic>
        <p:nvPicPr>
          <p:cNvPr id="9" name="Picture 8">
            <a:extLst>
              <a:ext uri="{FF2B5EF4-FFF2-40B4-BE49-F238E27FC236}">
                <a16:creationId xmlns:a16="http://schemas.microsoft.com/office/drawing/2014/main" id="{D21A0925-4783-ECDC-0D11-672FA0D51FF3}"/>
              </a:ext>
            </a:extLst>
          </p:cNvPr>
          <p:cNvPicPr>
            <a:picLocks noChangeAspect="1"/>
          </p:cNvPicPr>
          <p:nvPr/>
        </p:nvPicPr>
        <p:blipFill>
          <a:blip r:embed="rId2"/>
          <a:stretch>
            <a:fillRect/>
          </a:stretch>
        </p:blipFill>
        <p:spPr>
          <a:xfrm>
            <a:off x="2271310" y="2895601"/>
            <a:ext cx="5132533" cy="3132136"/>
          </a:xfrm>
          <a:prstGeom prst="rect">
            <a:avLst/>
          </a:prstGeom>
        </p:spPr>
      </p:pic>
      <p:sp>
        <p:nvSpPr>
          <p:cNvPr id="11" name="TextBox 10">
            <a:extLst>
              <a:ext uri="{FF2B5EF4-FFF2-40B4-BE49-F238E27FC236}">
                <a16:creationId xmlns:a16="http://schemas.microsoft.com/office/drawing/2014/main" id="{05C3983E-88D7-681B-D81B-619E6D641032}"/>
              </a:ext>
            </a:extLst>
          </p:cNvPr>
          <p:cNvSpPr txBox="1"/>
          <p:nvPr/>
        </p:nvSpPr>
        <p:spPr>
          <a:xfrm>
            <a:off x="306684" y="1567249"/>
            <a:ext cx="8382000" cy="1511311"/>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Now comes an important question, which in-flight services most strongly correlate with satisfaction? We found that online boarding is the dominant factor.</a:t>
            </a:r>
            <a:endParaRPr lang="en-GB" sz="1600" dirty="0"/>
          </a:p>
        </p:txBody>
      </p:sp>
    </p:spTree>
    <p:extLst>
      <p:ext uri="{BB962C8B-B14F-4D97-AF65-F5344CB8AC3E}">
        <p14:creationId xmlns:p14="http://schemas.microsoft.com/office/powerpoint/2010/main" val="2493983278"/>
      </p:ext>
    </p:extLst>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BEE24A-C8E4-8CDC-A684-02C11BC10C5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7465C20-B244-D209-15F0-47F5037A83DC}"/>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33DAC347-4D12-3547-954A-3ED4F7627B40}"/>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FE5FD96C-87C2-469B-CC67-79BC28A40829}"/>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4EB79DEE-0769-6397-EB07-4FDBED72FA02}"/>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97DC3A94-D16E-763E-158E-196BE38DBE02}"/>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EDA</a:t>
            </a:r>
          </a:p>
        </p:txBody>
      </p:sp>
      <p:sp>
        <p:nvSpPr>
          <p:cNvPr id="11" name="TextBox 10">
            <a:extLst>
              <a:ext uri="{FF2B5EF4-FFF2-40B4-BE49-F238E27FC236}">
                <a16:creationId xmlns:a16="http://schemas.microsoft.com/office/drawing/2014/main" id="{39338EC0-AE44-5A7B-4C76-FEFE25E5EC1D}"/>
              </a:ext>
            </a:extLst>
          </p:cNvPr>
          <p:cNvSpPr txBox="1"/>
          <p:nvPr/>
        </p:nvSpPr>
        <p:spPr>
          <a:xfrm>
            <a:off x="306684" y="1567249"/>
            <a:ext cx="8382000" cy="523541"/>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Does Age affect satisfaction?</a:t>
            </a:r>
            <a:endParaRPr lang="en-GB" sz="1600" dirty="0"/>
          </a:p>
        </p:txBody>
      </p:sp>
      <p:pic>
        <p:nvPicPr>
          <p:cNvPr id="8" name="Picture 7">
            <a:extLst>
              <a:ext uri="{FF2B5EF4-FFF2-40B4-BE49-F238E27FC236}">
                <a16:creationId xmlns:a16="http://schemas.microsoft.com/office/drawing/2014/main" id="{A34CAA7A-D5C1-416C-2204-0B9AD653171A}"/>
              </a:ext>
            </a:extLst>
          </p:cNvPr>
          <p:cNvPicPr>
            <a:picLocks noChangeAspect="1"/>
          </p:cNvPicPr>
          <p:nvPr/>
        </p:nvPicPr>
        <p:blipFill>
          <a:blip r:embed="rId2"/>
          <a:stretch>
            <a:fillRect/>
          </a:stretch>
        </p:blipFill>
        <p:spPr>
          <a:xfrm>
            <a:off x="1682598" y="2189327"/>
            <a:ext cx="6548510" cy="3916802"/>
          </a:xfrm>
          <a:prstGeom prst="rect">
            <a:avLst/>
          </a:prstGeom>
        </p:spPr>
      </p:pic>
    </p:spTree>
    <p:extLst>
      <p:ext uri="{BB962C8B-B14F-4D97-AF65-F5344CB8AC3E}">
        <p14:creationId xmlns:p14="http://schemas.microsoft.com/office/powerpoint/2010/main" val="1494536694"/>
      </p:ext>
    </p:extLst>
  </p:cSld>
  <p:clrMapOvr>
    <a:masterClrMapping/>
  </p:clrMapOvr>
  <p:transition>
    <p:push/>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1317861"/>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Machie Learning Model &amp; Evaluation</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GB"/>
          </a:p>
        </p:txBody>
      </p:sp>
    </p:spTree>
  </p:cSld>
  <p:clrMapOvr>
    <a:masterClrMapping/>
  </p:clrMapOvr>
  <p:transition>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86F6C-1290-A5EB-09B7-0ABCE77220F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7BD3C62-BFF5-E30D-AC72-458A0346C97B}"/>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F54ABA9A-BF71-66D8-0ACE-1642079B6745}"/>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B7316A13-01C0-99E5-B55A-2B8FC597A15F}"/>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86228668-1F13-09E3-5637-AAEBF133E6D5}"/>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EEC21D4A-8924-27FB-0B0B-DF0E97C3C26A}"/>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BA490EE0-5B06-A371-A746-B6639EDFC476}"/>
              </a:ext>
            </a:extLst>
          </p:cNvPr>
          <p:cNvSpPr txBox="1"/>
          <p:nvPr/>
        </p:nvSpPr>
        <p:spPr>
          <a:xfrm>
            <a:off x="306684" y="1567249"/>
            <a:ext cx="8382000" cy="1978170"/>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Our target column is ‘Satisfaction’</a:t>
            </a:r>
          </a:p>
          <a:p>
            <a:pPr marL="690871" lvl="1" indent="-345435">
              <a:lnSpc>
                <a:spcPts val="3839"/>
              </a:lnSpc>
              <a:buFont typeface="Arial"/>
              <a:buChar char="•"/>
            </a:pPr>
            <a:r>
              <a:rPr lang="en-US" sz="2000" dirty="0">
                <a:solidFill>
                  <a:srgbClr val="7F7F7F"/>
                </a:solidFill>
                <a:latin typeface="Arimo"/>
                <a:ea typeface="Arimo"/>
                <a:cs typeface="Arimo"/>
                <a:sym typeface="Arimo"/>
              </a:rPr>
              <a:t>Our problem is mainly a Classification problem</a:t>
            </a:r>
          </a:p>
          <a:p>
            <a:pPr marL="690871" lvl="1" indent="-345435">
              <a:lnSpc>
                <a:spcPts val="3839"/>
              </a:lnSpc>
              <a:buFont typeface="Arial"/>
              <a:buChar char="•"/>
            </a:pPr>
            <a:r>
              <a:rPr lang="en-US" sz="2000" dirty="0">
                <a:solidFill>
                  <a:srgbClr val="7F7F7F"/>
                </a:solidFill>
                <a:latin typeface="Arimo"/>
                <a:ea typeface="Arimo"/>
                <a:cs typeface="Arimo"/>
                <a:sym typeface="Arimo"/>
              </a:rPr>
              <a:t>We used Accuracy, Precision, recall, support and F1-Score as metrics for evaluating models</a:t>
            </a:r>
          </a:p>
        </p:txBody>
      </p:sp>
    </p:spTree>
    <p:extLst>
      <p:ext uri="{BB962C8B-B14F-4D97-AF65-F5344CB8AC3E}">
        <p14:creationId xmlns:p14="http://schemas.microsoft.com/office/powerpoint/2010/main" val="3736958034"/>
      </p:ext>
    </p:extLst>
  </p:cSld>
  <p:clrMapOvr>
    <a:masterClrMapping/>
  </p:clrMapOvr>
  <p:transition>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A7473-8687-8375-FBC1-7B0911C1FE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4AB35C5-CB19-9446-D48E-0066C9768867}"/>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5AA6EDEF-A079-1F2E-214E-9763F4939BCD}"/>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4D812980-1DEA-69B8-145F-FA94DA9B8BA9}"/>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F2BBFF34-EB40-F943-DB2C-47272ABC1BC0}"/>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D1CA1988-7CA0-C310-1826-845099BC936D}"/>
              </a:ext>
            </a:extLst>
          </p:cNvPr>
          <p:cNvSpPr txBox="1"/>
          <p:nvPr/>
        </p:nvSpPr>
        <p:spPr>
          <a:xfrm>
            <a:off x="564918" y="289102"/>
            <a:ext cx="8060986" cy="487313"/>
          </a:xfrm>
          <a:prstGeom prst="rect">
            <a:avLst/>
          </a:prstGeom>
        </p:spPr>
        <p:txBody>
          <a:bodyPr lIns="0" tIns="0" rIns="0" bIns="0" rtlCol="0" anchor="t">
            <a:spAutoFit/>
          </a:bodyPr>
          <a:lstStyle/>
          <a:p>
            <a:pPr algn="l">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51710DB2-5B41-39AC-F91A-F9FA33AE60B1}"/>
              </a:ext>
            </a:extLst>
          </p:cNvPr>
          <p:cNvSpPr txBox="1"/>
          <p:nvPr/>
        </p:nvSpPr>
        <p:spPr>
          <a:xfrm>
            <a:off x="306684" y="1567249"/>
            <a:ext cx="8382000" cy="1010854"/>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first used Logistic Regression as our Baseline model, and it gave good results, however, not the best</a:t>
            </a:r>
            <a:endParaRPr lang="en-GB" sz="1600" dirty="0"/>
          </a:p>
        </p:txBody>
      </p:sp>
      <p:pic>
        <p:nvPicPr>
          <p:cNvPr id="10" name="Picture 9">
            <a:extLst>
              <a:ext uri="{FF2B5EF4-FFF2-40B4-BE49-F238E27FC236}">
                <a16:creationId xmlns:a16="http://schemas.microsoft.com/office/drawing/2014/main" id="{09526EA2-4F76-2C20-DD69-D3AFC77B7019}"/>
              </a:ext>
            </a:extLst>
          </p:cNvPr>
          <p:cNvPicPr>
            <a:picLocks noChangeAspect="1"/>
          </p:cNvPicPr>
          <p:nvPr/>
        </p:nvPicPr>
        <p:blipFill>
          <a:blip r:embed="rId2"/>
          <a:stretch>
            <a:fillRect/>
          </a:stretch>
        </p:blipFill>
        <p:spPr>
          <a:xfrm>
            <a:off x="2204012" y="3178021"/>
            <a:ext cx="5485275" cy="2826674"/>
          </a:xfrm>
          <a:prstGeom prst="rect">
            <a:avLst/>
          </a:prstGeom>
        </p:spPr>
      </p:pic>
    </p:spTree>
    <p:extLst>
      <p:ext uri="{BB962C8B-B14F-4D97-AF65-F5344CB8AC3E}">
        <p14:creationId xmlns:p14="http://schemas.microsoft.com/office/powerpoint/2010/main" val="4190589538"/>
      </p:ext>
    </p:extLst>
  </p:cSld>
  <p:clrMapOvr>
    <a:masterClrMapping/>
  </p:clrMapOvr>
  <p:transition>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3D77D6-4750-1121-8AA9-4774A82F52F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6394080-FF11-BB4D-A5DE-C1714C3C5395}"/>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B2B75A79-70A3-6B34-9BF7-7B054592705E}"/>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5DC2F3E7-1F4E-24E3-F7DE-99EB11432385}"/>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01DAEC16-5083-1F38-AD89-733D4B746C5B}"/>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E3A9947E-9EA3-8D2A-0F54-4B1D7CD192EC}"/>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E65A917B-0174-465F-8D6B-18C382B9AF35}"/>
              </a:ext>
            </a:extLst>
          </p:cNvPr>
          <p:cNvSpPr txBox="1"/>
          <p:nvPr/>
        </p:nvSpPr>
        <p:spPr>
          <a:xfrm>
            <a:off x="306684" y="1567249"/>
            <a:ext cx="8382000" cy="1010854"/>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Then, we used Random Forest, it took so much time, but it gave really good results </a:t>
            </a:r>
            <a:endParaRPr lang="en-GB" sz="1600" dirty="0"/>
          </a:p>
        </p:txBody>
      </p:sp>
      <p:pic>
        <p:nvPicPr>
          <p:cNvPr id="8" name="Picture 7">
            <a:extLst>
              <a:ext uri="{FF2B5EF4-FFF2-40B4-BE49-F238E27FC236}">
                <a16:creationId xmlns:a16="http://schemas.microsoft.com/office/drawing/2014/main" id="{59479912-AC10-0447-A56C-8B039A5B9643}"/>
              </a:ext>
            </a:extLst>
          </p:cNvPr>
          <p:cNvPicPr>
            <a:picLocks noChangeAspect="1"/>
          </p:cNvPicPr>
          <p:nvPr/>
        </p:nvPicPr>
        <p:blipFill>
          <a:blip r:embed="rId2"/>
          <a:stretch>
            <a:fillRect/>
          </a:stretch>
        </p:blipFill>
        <p:spPr>
          <a:xfrm>
            <a:off x="1922575" y="2901117"/>
            <a:ext cx="6048149" cy="3095230"/>
          </a:xfrm>
          <a:prstGeom prst="rect">
            <a:avLst/>
          </a:prstGeom>
        </p:spPr>
      </p:pic>
    </p:spTree>
    <p:extLst>
      <p:ext uri="{BB962C8B-B14F-4D97-AF65-F5344CB8AC3E}">
        <p14:creationId xmlns:p14="http://schemas.microsoft.com/office/powerpoint/2010/main" val="3205745078"/>
      </p:ext>
    </p:extLst>
  </p:cSld>
  <p:clrMapOvr>
    <a:masterClrMapping/>
  </p:clrMapOvr>
  <p:transition>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13DD0-2E67-5D00-FC13-05A5FC82345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86908D-6758-1D97-4260-39E42E105758}"/>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70F795C5-3FC8-07E1-9823-BD13911757E2}"/>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C53D94CA-7EE8-4DE9-4C40-FB1997D873A6}"/>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9023C865-70AE-AA3D-C974-3DBB9BFC2C05}"/>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62F23061-0E95-4B04-C88F-B9A31DBBFED3}"/>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8C67E568-8031-F436-66B5-2041D0986519}"/>
              </a:ext>
            </a:extLst>
          </p:cNvPr>
          <p:cNvSpPr txBox="1"/>
          <p:nvPr/>
        </p:nvSpPr>
        <p:spPr>
          <a:xfrm>
            <a:off x="306684" y="1567249"/>
            <a:ext cx="8382000" cy="1498167"/>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then checked is the model (Random Forest) overfitting or not by using cross validation, and this proved to be wrong (no overfitting)</a:t>
            </a:r>
            <a:endParaRPr lang="en-GB" sz="1600" dirty="0"/>
          </a:p>
        </p:txBody>
      </p:sp>
      <p:pic>
        <p:nvPicPr>
          <p:cNvPr id="9" name="Picture 8">
            <a:extLst>
              <a:ext uri="{FF2B5EF4-FFF2-40B4-BE49-F238E27FC236}">
                <a16:creationId xmlns:a16="http://schemas.microsoft.com/office/drawing/2014/main" id="{CC32AAA7-DF2E-B80E-BD6E-5EEC84572B9D}"/>
              </a:ext>
            </a:extLst>
          </p:cNvPr>
          <p:cNvPicPr>
            <a:picLocks noChangeAspect="1"/>
          </p:cNvPicPr>
          <p:nvPr/>
        </p:nvPicPr>
        <p:blipFill>
          <a:blip r:embed="rId2"/>
          <a:stretch>
            <a:fillRect/>
          </a:stretch>
        </p:blipFill>
        <p:spPr>
          <a:xfrm>
            <a:off x="1169460" y="3178021"/>
            <a:ext cx="7554379" cy="1076475"/>
          </a:xfrm>
          <a:prstGeom prst="rect">
            <a:avLst/>
          </a:prstGeom>
        </p:spPr>
      </p:pic>
    </p:spTree>
    <p:extLst>
      <p:ext uri="{BB962C8B-B14F-4D97-AF65-F5344CB8AC3E}">
        <p14:creationId xmlns:p14="http://schemas.microsoft.com/office/powerpoint/2010/main" val="559361417"/>
      </p:ext>
    </p:extLst>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CDA66-C64E-C691-9DAE-7900AAC038B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D675437-7BD0-C5C4-2170-791CBBD6AE1E}"/>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7EE11ADC-30B1-1149-10D2-C57276387FD5}"/>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2D348485-13A5-A231-A8C9-6AAF2EC757E6}"/>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28BDDB34-B467-ACE4-ECD4-246A9FE77C4B}"/>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8D22C872-7D99-B069-8C6C-66892DBC2498}"/>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61014A87-826C-852E-A787-8376154C4287}"/>
              </a:ext>
            </a:extLst>
          </p:cNvPr>
          <p:cNvSpPr txBox="1"/>
          <p:nvPr/>
        </p:nvSpPr>
        <p:spPr>
          <a:xfrm>
            <a:off x="306684" y="1567249"/>
            <a:ext cx="8382000" cy="1498167"/>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asked Random Forest to give us the most important factors affecting passenger’s satisfaction, and ‘Online Boarding’ still the dominant</a:t>
            </a:r>
            <a:endParaRPr lang="en-GB" sz="1600" dirty="0"/>
          </a:p>
        </p:txBody>
      </p:sp>
      <p:pic>
        <p:nvPicPr>
          <p:cNvPr id="8" name="Picture 7">
            <a:extLst>
              <a:ext uri="{FF2B5EF4-FFF2-40B4-BE49-F238E27FC236}">
                <a16:creationId xmlns:a16="http://schemas.microsoft.com/office/drawing/2014/main" id="{A579C453-A9B1-34A7-8BCA-3F28BDAFC5CC}"/>
              </a:ext>
            </a:extLst>
          </p:cNvPr>
          <p:cNvPicPr>
            <a:picLocks noChangeAspect="1"/>
          </p:cNvPicPr>
          <p:nvPr/>
        </p:nvPicPr>
        <p:blipFill>
          <a:blip r:embed="rId2"/>
          <a:stretch>
            <a:fillRect/>
          </a:stretch>
        </p:blipFill>
        <p:spPr>
          <a:xfrm>
            <a:off x="2008203" y="2945143"/>
            <a:ext cx="5861050" cy="3140823"/>
          </a:xfrm>
          <a:prstGeom prst="rect">
            <a:avLst/>
          </a:prstGeom>
        </p:spPr>
      </p:pic>
    </p:spTree>
    <p:extLst>
      <p:ext uri="{BB962C8B-B14F-4D97-AF65-F5344CB8AC3E}">
        <p14:creationId xmlns:p14="http://schemas.microsoft.com/office/powerpoint/2010/main" val="1314833173"/>
      </p:ext>
    </p:extLst>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F67D5-FE16-17DD-B792-5F900C4C6FA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83728BE-4A57-CFCA-0FB3-C5E39297FF0D}"/>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77ECBE3A-9B51-5851-C0A2-CD7862F9B4CF}"/>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DEDD2A77-A1AA-0E21-5AFA-ECD0C03B2327}"/>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1D74EBDF-5472-1636-8BFC-A067924F8E19}"/>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AF315CC4-9D70-1800-4226-D5933BDB8F6F}"/>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D4F69276-F4F7-C7DA-1D2A-9E2C079FE905}"/>
              </a:ext>
            </a:extLst>
          </p:cNvPr>
          <p:cNvSpPr txBox="1"/>
          <p:nvPr/>
        </p:nvSpPr>
        <p:spPr>
          <a:xfrm>
            <a:off x="306684" y="1567249"/>
            <a:ext cx="8382000" cy="1010854"/>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tried other models, this one is </a:t>
            </a:r>
            <a:r>
              <a:rPr lang="en-US" sz="2000" dirty="0" err="1">
                <a:solidFill>
                  <a:srgbClr val="7F7F7F"/>
                </a:solidFill>
                <a:latin typeface="Arimo"/>
                <a:ea typeface="Arimo"/>
                <a:cs typeface="Arimo"/>
                <a:sym typeface="Arimo"/>
              </a:rPr>
              <a:t>XGBoost</a:t>
            </a:r>
            <a:r>
              <a:rPr lang="en-US" sz="2000" dirty="0">
                <a:solidFill>
                  <a:srgbClr val="7F7F7F"/>
                </a:solidFill>
                <a:latin typeface="Arimo"/>
                <a:ea typeface="Arimo"/>
                <a:cs typeface="Arimo"/>
                <a:sym typeface="Arimo"/>
              </a:rPr>
              <a:t>, and it gave very good results (comparable to Random Forest)</a:t>
            </a:r>
            <a:endParaRPr lang="en-GB" sz="1600" dirty="0"/>
          </a:p>
        </p:txBody>
      </p:sp>
      <p:pic>
        <p:nvPicPr>
          <p:cNvPr id="9" name="Picture 8">
            <a:extLst>
              <a:ext uri="{FF2B5EF4-FFF2-40B4-BE49-F238E27FC236}">
                <a16:creationId xmlns:a16="http://schemas.microsoft.com/office/drawing/2014/main" id="{E0DD886F-DE64-E082-7524-FB1879E425BA}"/>
              </a:ext>
            </a:extLst>
          </p:cNvPr>
          <p:cNvPicPr>
            <a:picLocks noChangeAspect="1"/>
          </p:cNvPicPr>
          <p:nvPr/>
        </p:nvPicPr>
        <p:blipFill>
          <a:blip r:embed="rId2"/>
          <a:stretch>
            <a:fillRect/>
          </a:stretch>
        </p:blipFill>
        <p:spPr>
          <a:xfrm>
            <a:off x="2203450" y="3124200"/>
            <a:ext cx="5486400" cy="2833982"/>
          </a:xfrm>
          <a:prstGeom prst="rect">
            <a:avLst/>
          </a:prstGeom>
        </p:spPr>
      </p:pic>
    </p:spTree>
    <p:extLst>
      <p:ext uri="{BB962C8B-B14F-4D97-AF65-F5344CB8AC3E}">
        <p14:creationId xmlns:p14="http://schemas.microsoft.com/office/powerpoint/2010/main" val="3616577489"/>
      </p:ext>
    </p:extLst>
  </p:cSld>
  <p:clrMapOvr>
    <a:masterClrMapping/>
  </p:clrMapOvr>
  <p:transition>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43511-06D7-10CE-1F53-3D61A89B97C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B0A07B-9BC3-D213-A7D9-17A4BE015FEA}"/>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76F824F2-7064-A320-78C4-94FF23F453D0}"/>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E34943EF-CFF6-3788-DB15-A0A222B1AF35}"/>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1FC433F1-14F8-26F8-B9BD-018750D29426}"/>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49180D23-D295-9BF3-86E6-7A0BD4777243}"/>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776D03A0-CC42-8C80-FA0A-75D8DCEA9BFA}"/>
              </a:ext>
            </a:extLst>
          </p:cNvPr>
          <p:cNvSpPr txBox="1"/>
          <p:nvPr/>
        </p:nvSpPr>
        <p:spPr>
          <a:xfrm>
            <a:off x="306684" y="1567249"/>
            <a:ext cx="8382000" cy="1010854"/>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checked overfitting again to this one using cross validation, and it is not overfitting</a:t>
            </a:r>
            <a:endParaRPr lang="en-GB" sz="1600" dirty="0"/>
          </a:p>
        </p:txBody>
      </p:sp>
      <p:pic>
        <p:nvPicPr>
          <p:cNvPr id="8" name="Picture 7">
            <a:extLst>
              <a:ext uri="{FF2B5EF4-FFF2-40B4-BE49-F238E27FC236}">
                <a16:creationId xmlns:a16="http://schemas.microsoft.com/office/drawing/2014/main" id="{61474D50-58D8-B477-D0D7-C569EFEDBE78}"/>
              </a:ext>
            </a:extLst>
          </p:cNvPr>
          <p:cNvPicPr>
            <a:picLocks noChangeAspect="1"/>
          </p:cNvPicPr>
          <p:nvPr/>
        </p:nvPicPr>
        <p:blipFill>
          <a:blip r:embed="rId2"/>
          <a:stretch>
            <a:fillRect/>
          </a:stretch>
        </p:blipFill>
        <p:spPr>
          <a:xfrm>
            <a:off x="1208242" y="3352800"/>
            <a:ext cx="7497221" cy="1276528"/>
          </a:xfrm>
          <a:prstGeom prst="rect">
            <a:avLst/>
          </a:prstGeom>
        </p:spPr>
      </p:pic>
    </p:spTree>
    <p:extLst>
      <p:ext uri="{BB962C8B-B14F-4D97-AF65-F5344CB8AC3E}">
        <p14:creationId xmlns:p14="http://schemas.microsoft.com/office/powerpoint/2010/main" val="1712932211"/>
      </p:ext>
    </p:extLst>
  </p:cSld>
  <p:clrMapOvr>
    <a:masterClrMapping/>
  </p:clrMapOvr>
  <p:transition>
    <p:push/>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19FD1-46D9-1483-8B9D-0B30A2889F6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0E8846-C4B6-70CF-E99F-F9EE40E41B05}"/>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5E597273-BDA6-18DC-7B6F-7D148FA832E9}"/>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C1B4ACD1-48FB-AF05-A627-4549AA908281}"/>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E38B3237-FF3F-9E00-4D2F-7501B93F4DEF}"/>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F6E5E581-5E70-9C72-6893-30D8AC9C41B4}"/>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D8275E05-E7B9-9B56-E498-8F3E26FDC5AA}"/>
              </a:ext>
            </a:extLst>
          </p:cNvPr>
          <p:cNvSpPr txBox="1"/>
          <p:nvPr/>
        </p:nvSpPr>
        <p:spPr>
          <a:xfrm>
            <a:off x="306684" y="1567249"/>
            <a:ext cx="8382000" cy="1010854"/>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Our final model is </a:t>
            </a:r>
            <a:r>
              <a:rPr lang="en-US" sz="2000" dirty="0" err="1">
                <a:solidFill>
                  <a:srgbClr val="7F7F7F"/>
                </a:solidFill>
                <a:latin typeface="Arimo"/>
                <a:ea typeface="Arimo"/>
                <a:cs typeface="Arimo"/>
                <a:sym typeface="Arimo"/>
              </a:rPr>
              <a:t>LightBoost</a:t>
            </a:r>
            <a:r>
              <a:rPr lang="en-US" sz="2000" dirty="0">
                <a:solidFill>
                  <a:srgbClr val="7F7F7F"/>
                </a:solidFill>
                <a:latin typeface="Arimo"/>
                <a:ea typeface="Arimo"/>
                <a:cs typeface="Arimo"/>
                <a:sym typeface="Arimo"/>
              </a:rPr>
              <a:t>, this model gave results like Random Forest and </a:t>
            </a:r>
            <a:r>
              <a:rPr lang="en-US" sz="2000" dirty="0" err="1">
                <a:solidFill>
                  <a:srgbClr val="7F7F7F"/>
                </a:solidFill>
                <a:latin typeface="Arimo"/>
                <a:ea typeface="Arimo"/>
                <a:cs typeface="Arimo"/>
                <a:sym typeface="Arimo"/>
              </a:rPr>
              <a:t>XGBoost</a:t>
            </a:r>
            <a:r>
              <a:rPr lang="en-US" sz="2000" dirty="0">
                <a:solidFill>
                  <a:srgbClr val="7F7F7F"/>
                </a:solidFill>
                <a:latin typeface="Arimo"/>
                <a:ea typeface="Arimo"/>
                <a:cs typeface="Arimo"/>
                <a:sym typeface="Arimo"/>
              </a:rPr>
              <a:t> but it was much faster than both!</a:t>
            </a:r>
            <a:endParaRPr lang="en-GB" sz="1600" dirty="0"/>
          </a:p>
        </p:txBody>
      </p:sp>
      <p:pic>
        <p:nvPicPr>
          <p:cNvPr id="12" name="Picture 11">
            <a:extLst>
              <a:ext uri="{FF2B5EF4-FFF2-40B4-BE49-F238E27FC236}">
                <a16:creationId xmlns:a16="http://schemas.microsoft.com/office/drawing/2014/main" id="{543F99D2-CEE0-CFA5-B6D6-4A0DADCD0B7D}"/>
              </a:ext>
            </a:extLst>
          </p:cNvPr>
          <p:cNvPicPr>
            <a:picLocks noChangeAspect="1"/>
          </p:cNvPicPr>
          <p:nvPr/>
        </p:nvPicPr>
        <p:blipFill>
          <a:blip r:embed="rId2"/>
          <a:stretch>
            <a:fillRect/>
          </a:stretch>
        </p:blipFill>
        <p:spPr>
          <a:xfrm>
            <a:off x="1436874" y="2871307"/>
            <a:ext cx="7039957" cy="3277057"/>
          </a:xfrm>
          <a:prstGeom prst="rect">
            <a:avLst/>
          </a:prstGeom>
        </p:spPr>
      </p:pic>
    </p:spTree>
    <p:extLst>
      <p:ext uri="{BB962C8B-B14F-4D97-AF65-F5344CB8AC3E}">
        <p14:creationId xmlns:p14="http://schemas.microsoft.com/office/powerpoint/2010/main" val="2015529422"/>
      </p:ext>
    </p:extLst>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1E9FB-E4A9-A513-2582-29708EC71D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A9CEF0A-9F58-3705-BE6A-A93DA8CC9FB8}"/>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F6F3AFDD-6AF9-4CFA-951E-C8D617F9FEEF}"/>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DDF90CC4-0F1C-A072-AEED-50891F7EB153}"/>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2EA3C0E1-C34E-1C11-F45D-E29617B7CE9A}"/>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DF9C5D18-B5C3-5805-0690-A9FDDA6018D2}"/>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ML Model &amp; Evaluation</a:t>
            </a:r>
          </a:p>
        </p:txBody>
      </p:sp>
      <p:sp>
        <p:nvSpPr>
          <p:cNvPr id="11" name="TextBox 10">
            <a:extLst>
              <a:ext uri="{FF2B5EF4-FFF2-40B4-BE49-F238E27FC236}">
                <a16:creationId xmlns:a16="http://schemas.microsoft.com/office/drawing/2014/main" id="{82348108-D2FB-1C28-CC17-18DB012CB369}"/>
              </a:ext>
            </a:extLst>
          </p:cNvPr>
          <p:cNvSpPr txBox="1"/>
          <p:nvPr/>
        </p:nvSpPr>
        <p:spPr>
          <a:xfrm>
            <a:off x="306684" y="1567249"/>
            <a:ext cx="8382000" cy="523541"/>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checked overfitting here again, and it proved to be wrong</a:t>
            </a:r>
            <a:endParaRPr lang="en-GB" sz="1600" dirty="0"/>
          </a:p>
        </p:txBody>
      </p:sp>
      <p:pic>
        <p:nvPicPr>
          <p:cNvPr id="8" name="Picture 7">
            <a:extLst>
              <a:ext uri="{FF2B5EF4-FFF2-40B4-BE49-F238E27FC236}">
                <a16:creationId xmlns:a16="http://schemas.microsoft.com/office/drawing/2014/main" id="{67D41692-220A-846F-92EB-D20FC3834310}"/>
              </a:ext>
            </a:extLst>
          </p:cNvPr>
          <p:cNvPicPr>
            <a:picLocks noChangeAspect="1"/>
          </p:cNvPicPr>
          <p:nvPr/>
        </p:nvPicPr>
        <p:blipFill>
          <a:blip r:embed="rId2"/>
          <a:stretch>
            <a:fillRect/>
          </a:stretch>
        </p:blipFill>
        <p:spPr>
          <a:xfrm>
            <a:off x="1169460" y="2895525"/>
            <a:ext cx="7554379" cy="1066949"/>
          </a:xfrm>
          <a:prstGeom prst="rect">
            <a:avLst/>
          </a:prstGeom>
        </p:spPr>
      </p:pic>
    </p:spTree>
    <p:extLst>
      <p:ext uri="{BB962C8B-B14F-4D97-AF65-F5344CB8AC3E}">
        <p14:creationId xmlns:p14="http://schemas.microsoft.com/office/powerpoint/2010/main" val="378689614"/>
      </p:ext>
    </p:extLst>
  </p:cSld>
  <p:clrMapOvr>
    <a:masterClrMapping/>
  </p:clrMapOvr>
  <p:transition>
    <p:push/>
  </p:transition>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FFFFFF"/>
                </a:solidFill>
                <a:latin typeface="Arial MT Pro"/>
                <a:ea typeface="Arial MT Pro"/>
                <a:cs typeface="Arial MT Pro"/>
                <a:sym typeface="Arial MT Pro"/>
              </a:rPr>
              <a:t>Samsung Innovation Campus</a:t>
            </a:r>
          </a:p>
        </p:txBody>
      </p:sp>
      <p:sp>
        <p:nvSpPr>
          <p:cNvPr id="3" name="TextBox 3"/>
          <p:cNvSpPr txBox="1"/>
          <p:nvPr/>
        </p:nvSpPr>
        <p:spPr>
          <a:xfrm>
            <a:off x="945930" y="2743200"/>
            <a:ext cx="7008600" cy="1997535"/>
          </a:xfrm>
          <a:prstGeom prst="rect">
            <a:avLst/>
          </a:prstGeom>
        </p:spPr>
        <p:txBody>
          <a:bodyPr lIns="0" tIns="0" rIns="0" bIns="0" rtlCol="0" anchor="t">
            <a:spAutoFit/>
          </a:bodyPr>
          <a:lstStyle/>
          <a:p>
            <a:pPr algn="l">
              <a:lnSpc>
                <a:spcPts val="5280"/>
              </a:lnSpc>
            </a:pPr>
            <a:r>
              <a:rPr lang="en-US" sz="4400" dirty="0">
                <a:solidFill>
                  <a:srgbClr val="FFFFFF"/>
                </a:solidFill>
                <a:latin typeface="Arimo"/>
                <a:ea typeface="Arimo"/>
                <a:cs typeface="Arimo"/>
                <a:sym typeface="Arimo"/>
              </a:rPr>
              <a:t>Conclusion, Recommendations and Future work</a:t>
            </a:r>
          </a:p>
        </p:txBody>
      </p:sp>
      <p:sp>
        <p:nvSpPr>
          <p:cNvPr id="4" name="AutoShape 4"/>
          <p:cNvSpPr/>
          <p:nvPr/>
        </p:nvSpPr>
        <p:spPr>
          <a:xfrm rot="5457290">
            <a:off x="-807061" y="3300503"/>
            <a:ext cx="2916405" cy="0"/>
          </a:xfrm>
          <a:prstGeom prst="line">
            <a:avLst/>
          </a:prstGeom>
          <a:ln w="28575" cap="rnd">
            <a:solidFill>
              <a:srgbClr val="FFFFFF"/>
            </a:solidFill>
            <a:prstDash val="solid"/>
            <a:headEnd type="none" w="sm" len="sm"/>
            <a:tailEnd type="none" w="sm" len="sm"/>
          </a:ln>
        </p:spPr>
        <p:txBody>
          <a:bodyPr/>
          <a:lstStyle/>
          <a:p>
            <a:endParaRPr lang="en-GB"/>
          </a:p>
        </p:txBody>
      </p:sp>
    </p:spTree>
  </p:cSld>
  <p:clrMapOvr>
    <a:masterClrMapping/>
  </p:clrMapOvr>
  <p:transition>
    <p:push/>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2DFD6-8F8C-C0CE-C7C2-1330BE21605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1C3C65-EAF4-9C3A-6675-2701ED0227AB}"/>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521133FE-A97E-AC49-4418-70A4AD63918E}"/>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ED8798B9-BBAF-7A02-A60E-37D96D9D5FE7}"/>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17D38395-B49A-8374-FF02-6F07AC2941A5}"/>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F7A2DC89-D51E-AE8D-1CD3-A483D744314D}"/>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Conclusion and Recommendations</a:t>
            </a:r>
          </a:p>
        </p:txBody>
      </p:sp>
      <p:sp>
        <p:nvSpPr>
          <p:cNvPr id="11" name="TextBox 10">
            <a:extLst>
              <a:ext uri="{FF2B5EF4-FFF2-40B4-BE49-F238E27FC236}">
                <a16:creationId xmlns:a16="http://schemas.microsoft.com/office/drawing/2014/main" id="{D4D9B0AE-50BD-11AA-A230-B74900394578}"/>
              </a:ext>
            </a:extLst>
          </p:cNvPr>
          <p:cNvSpPr txBox="1"/>
          <p:nvPr/>
        </p:nvSpPr>
        <p:spPr>
          <a:xfrm>
            <a:off x="306684" y="1567249"/>
            <a:ext cx="8382000" cy="3435812"/>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After doing EDA, we found that mainly the most important factor affecting customer’s satisfaction is the Online Boarding</a:t>
            </a:r>
            <a:r>
              <a:rPr lang="en-AU" sz="2000" dirty="0">
                <a:solidFill>
                  <a:srgbClr val="7F7F7F"/>
                </a:solidFill>
                <a:latin typeface="Arimo"/>
                <a:ea typeface="Arimo"/>
                <a:cs typeface="Arimo"/>
                <a:sym typeface="Arimo"/>
              </a:rPr>
              <a:t>, so the Airline Company should invest more in it, by, for example:</a:t>
            </a:r>
          </a:p>
          <a:p>
            <a:pPr marL="1148071" lvl="2" indent="-345435">
              <a:lnSpc>
                <a:spcPts val="3839"/>
              </a:lnSpc>
              <a:buFont typeface="Arial"/>
              <a:buChar char="•"/>
            </a:pPr>
            <a:r>
              <a:rPr lang="en-GB" sz="1600" dirty="0"/>
              <a:t>Offer discounts/loyalty points for using online check-in.</a:t>
            </a:r>
          </a:p>
          <a:p>
            <a:pPr marL="1148071" lvl="2" indent="-345435">
              <a:lnSpc>
                <a:spcPts val="3839"/>
              </a:lnSpc>
              <a:buFont typeface="Arial"/>
              <a:buChar char="•"/>
            </a:pPr>
            <a:r>
              <a:rPr lang="en-GB" sz="1600" dirty="0"/>
              <a:t>Make mobile boarding passes easy to save and scan.</a:t>
            </a:r>
          </a:p>
          <a:p>
            <a:pPr marL="1148071" lvl="2" indent="-345435">
              <a:lnSpc>
                <a:spcPts val="3839"/>
              </a:lnSpc>
              <a:buFont typeface="Arial"/>
              <a:buChar char="•"/>
            </a:pPr>
            <a:r>
              <a:rPr lang="en-GB" sz="1600" dirty="0"/>
              <a:t>Improve app stability (fix crashes, loading times).</a:t>
            </a:r>
          </a:p>
          <a:p>
            <a:pPr marL="1148071" lvl="2" indent="-345435">
              <a:lnSpc>
                <a:spcPts val="3839"/>
              </a:lnSpc>
              <a:buFont typeface="Arial"/>
              <a:buChar char="•"/>
            </a:pPr>
            <a:r>
              <a:rPr lang="en-GB" sz="1600" dirty="0"/>
              <a:t>Faster boarding → fewer delays → cost savings for the airline.</a:t>
            </a:r>
          </a:p>
        </p:txBody>
      </p:sp>
    </p:spTree>
    <p:extLst>
      <p:ext uri="{BB962C8B-B14F-4D97-AF65-F5344CB8AC3E}">
        <p14:creationId xmlns:p14="http://schemas.microsoft.com/office/powerpoint/2010/main" val="1312784166"/>
      </p:ext>
    </p:extLst>
  </p:cSld>
  <p:clrMapOvr>
    <a:masterClrMapping/>
  </p:clrMapOvr>
  <p:transition>
    <p:push/>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5A408-F44B-CE02-0B11-D70DFA2C941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00DD44-3F5D-0815-281E-F9E69F0F12E3}"/>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7CE61753-0CBC-5582-6A5A-A5A385AD3D2E}"/>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CEBF5A45-F0EC-7B9B-B6F9-6449C8927B32}"/>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A1C1A71A-FA47-991B-4480-C287C15C813F}"/>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54515B05-B5A2-FB54-3D52-69E801E5ED0B}"/>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Conclusion and Recommendations</a:t>
            </a:r>
          </a:p>
        </p:txBody>
      </p:sp>
      <p:sp>
        <p:nvSpPr>
          <p:cNvPr id="11" name="TextBox 10">
            <a:extLst>
              <a:ext uri="{FF2B5EF4-FFF2-40B4-BE49-F238E27FC236}">
                <a16:creationId xmlns:a16="http://schemas.microsoft.com/office/drawing/2014/main" id="{67DBF819-4408-8BAD-812C-89A3A9E2CF08}"/>
              </a:ext>
            </a:extLst>
          </p:cNvPr>
          <p:cNvSpPr txBox="1"/>
          <p:nvPr/>
        </p:nvSpPr>
        <p:spPr>
          <a:xfrm>
            <a:off x="306684" y="1567249"/>
            <a:ext cx="8382000" cy="2472793"/>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We also found that 57% of our customers are not satisfied, which indicates existing problems with the system that need fast action</a:t>
            </a:r>
          </a:p>
          <a:p>
            <a:pPr marL="690871" lvl="1" indent="-345435">
              <a:lnSpc>
                <a:spcPts val="3839"/>
              </a:lnSpc>
              <a:buFont typeface="Arial"/>
              <a:buChar char="•"/>
            </a:pPr>
            <a:r>
              <a:rPr lang="en-US" sz="2000" dirty="0">
                <a:solidFill>
                  <a:srgbClr val="7F7F7F"/>
                </a:solidFill>
                <a:latin typeface="Arimo"/>
                <a:ea typeface="Arimo"/>
                <a:cs typeface="Arimo"/>
                <a:sym typeface="Arimo"/>
              </a:rPr>
              <a:t>Some of these problem are already found like bad Online Boarding (as mentioned),  not satisfying seat-comfort, and the inflight Wi-Fi service</a:t>
            </a:r>
            <a:endParaRPr lang="en-GB" sz="1600" dirty="0"/>
          </a:p>
        </p:txBody>
      </p:sp>
    </p:spTree>
    <p:extLst>
      <p:ext uri="{BB962C8B-B14F-4D97-AF65-F5344CB8AC3E}">
        <p14:creationId xmlns:p14="http://schemas.microsoft.com/office/powerpoint/2010/main" val="2875114714"/>
      </p:ext>
    </p:extLst>
  </p:cSld>
  <p:clrMapOvr>
    <a:masterClrMapping/>
  </p:clrMapOvr>
  <p:transition>
    <p:push/>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896E5-C2DD-112D-41D2-E602D8D5EF0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4EC45F-2650-8DB8-B9B5-C897DE351439}"/>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F97BD354-4316-4769-CAF6-1EC0C487DEB0}"/>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DD522DC7-5335-E914-4D20-FADB70F6D53A}"/>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4AF22790-0C92-C28E-F178-7973704E46A0}"/>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98ACBC15-4E17-D4A8-8364-A8790FBDE547}"/>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Limitations</a:t>
            </a:r>
          </a:p>
        </p:txBody>
      </p:sp>
      <p:sp>
        <p:nvSpPr>
          <p:cNvPr id="11" name="TextBox 10">
            <a:extLst>
              <a:ext uri="{FF2B5EF4-FFF2-40B4-BE49-F238E27FC236}">
                <a16:creationId xmlns:a16="http://schemas.microsoft.com/office/drawing/2014/main" id="{55FDB661-CB90-5D6A-3AAF-A44B953DEBC1}"/>
              </a:ext>
            </a:extLst>
          </p:cNvPr>
          <p:cNvSpPr txBox="1"/>
          <p:nvPr/>
        </p:nvSpPr>
        <p:spPr>
          <a:xfrm>
            <a:off x="306684" y="1567249"/>
            <a:ext cx="8382000" cy="3915687"/>
          </a:xfrm>
          <a:prstGeom prst="rect">
            <a:avLst/>
          </a:prstGeom>
          <a:noFill/>
        </p:spPr>
        <p:txBody>
          <a:bodyPr wrap="square" rtlCol="0">
            <a:spAutoFit/>
          </a:bodyPr>
          <a:lstStyle/>
          <a:p>
            <a:pPr marL="690871" lvl="1" indent="-345435">
              <a:lnSpc>
                <a:spcPts val="3839"/>
              </a:lnSpc>
              <a:buFont typeface="Arial"/>
              <a:buChar char="•"/>
            </a:pPr>
            <a:r>
              <a:rPr lang="en-US" sz="2000" dirty="0">
                <a:solidFill>
                  <a:srgbClr val="7F7F7F"/>
                </a:solidFill>
                <a:latin typeface="Arimo"/>
                <a:ea typeface="Arimo"/>
                <a:cs typeface="Arimo"/>
                <a:sym typeface="Arimo"/>
              </a:rPr>
              <a:t>After all, we managed to know whether our passengers are satisfied or not, and which factors affect their satisfaction, but still our approach is still limited due to the following reasons</a:t>
            </a:r>
          </a:p>
          <a:p>
            <a:pPr marL="1148071" lvl="2" indent="-345435">
              <a:lnSpc>
                <a:spcPts val="3839"/>
              </a:lnSpc>
              <a:buFont typeface="Arial"/>
              <a:buChar char="•"/>
            </a:pPr>
            <a:r>
              <a:rPr lang="en-US" sz="1600" dirty="0">
                <a:solidFill>
                  <a:srgbClr val="7F7F7F"/>
                </a:solidFill>
                <a:latin typeface="Arimo"/>
                <a:ea typeface="Arimo"/>
                <a:cs typeface="Arimo"/>
                <a:sym typeface="Arimo"/>
              </a:rPr>
              <a:t>Columns are limited relatively ,there may be other factors that affect satisfaction, like bag weight, price of flights and the list goes on</a:t>
            </a:r>
          </a:p>
          <a:p>
            <a:pPr marL="1148071" lvl="2" indent="-345435">
              <a:lnSpc>
                <a:spcPts val="3839"/>
              </a:lnSpc>
              <a:buFont typeface="Arial"/>
              <a:buChar char="•"/>
            </a:pPr>
            <a:r>
              <a:rPr lang="en-US" sz="1600" dirty="0">
                <a:solidFill>
                  <a:srgbClr val="7F7F7F"/>
                </a:solidFill>
                <a:latin typeface="Arimo"/>
                <a:ea typeface="Arimo"/>
                <a:cs typeface="Arimo"/>
                <a:sym typeface="Arimo"/>
              </a:rPr>
              <a:t>We don’t know the competitors’ data to compare to, other competitors in the same country may be doing worse or bad, so we don’t know</a:t>
            </a:r>
          </a:p>
          <a:p>
            <a:pPr marL="1148071" lvl="2" indent="-345435">
              <a:lnSpc>
                <a:spcPts val="3839"/>
              </a:lnSpc>
              <a:buFont typeface="Arial"/>
              <a:buChar char="•"/>
            </a:pPr>
            <a:r>
              <a:rPr lang="en-US" sz="1600" dirty="0">
                <a:solidFill>
                  <a:srgbClr val="7F7F7F"/>
                </a:solidFill>
                <a:latin typeface="Arimo"/>
                <a:ea typeface="Arimo"/>
                <a:cs typeface="Arimo"/>
                <a:sym typeface="Arimo"/>
              </a:rPr>
              <a:t>We don’t know the business goals, so we can take better steps based on</a:t>
            </a:r>
            <a:endParaRPr lang="en-GB" sz="1600" dirty="0">
              <a:solidFill>
                <a:srgbClr val="7F7F7F"/>
              </a:solidFill>
              <a:latin typeface="Arimo"/>
              <a:ea typeface="Arimo"/>
              <a:cs typeface="Arimo"/>
              <a:sym typeface="Arimo"/>
            </a:endParaRPr>
          </a:p>
        </p:txBody>
      </p:sp>
    </p:spTree>
    <p:extLst>
      <p:ext uri="{BB962C8B-B14F-4D97-AF65-F5344CB8AC3E}">
        <p14:creationId xmlns:p14="http://schemas.microsoft.com/office/powerpoint/2010/main" val="1046880179"/>
      </p:ext>
    </p:extLst>
  </p:cSld>
  <p:clrMapOvr>
    <a:masterClrMapping/>
  </p:clrMapOvr>
  <p:transition>
    <p:push/>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D2A7F-B619-6DFA-DC4F-4B90FBC6544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A4DD3E-1884-9E26-D9F2-3CEFB582D7A3}"/>
              </a:ext>
            </a:extLst>
          </p:cNvPr>
          <p:cNvGrpSpPr/>
          <p:nvPr/>
        </p:nvGrpSpPr>
        <p:grpSpPr>
          <a:xfrm>
            <a:off x="-12700" y="0"/>
            <a:ext cx="9902825" cy="1197330"/>
            <a:chOff x="0" y="0"/>
            <a:chExt cx="13203767" cy="1596440"/>
          </a:xfrm>
        </p:grpSpPr>
        <p:sp>
          <p:nvSpPr>
            <p:cNvPr id="3" name="Freeform 3">
              <a:extLst>
                <a:ext uri="{FF2B5EF4-FFF2-40B4-BE49-F238E27FC236}">
                  <a16:creationId xmlns:a16="http://schemas.microsoft.com/office/drawing/2014/main" id="{6671EE0D-6A54-44D9-F4D2-B14BDDC6BD54}"/>
                </a:ext>
              </a:extLst>
            </p:cNvPr>
            <p:cNvSpPr/>
            <p:nvPr/>
          </p:nvSpPr>
          <p:spPr>
            <a:xfrm>
              <a:off x="0" y="0"/>
              <a:ext cx="13203810" cy="1596390"/>
            </a:xfrm>
            <a:custGeom>
              <a:avLst/>
              <a:gdLst/>
              <a:ahLst/>
              <a:cxnLst/>
              <a:rect l="l" t="t" r="r" b="b"/>
              <a:pathLst>
                <a:path w="13203810" h="1596390">
                  <a:moveTo>
                    <a:pt x="0" y="0"/>
                  </a:moveTo>
                  <a:lnTo>
                    <a:pt x="13203810" y="0"/>
                  </a:lnTo>
                  <a:lnTo>
                    <a:pt x="13203810" y="1596390"/>
                  </a:lnTo>
                  <a:lnTo>
                    <a:pt x="0" y="1596390"/>
                  </a:lnTo>
                  <a:close/>
                </a:path>
              </a:pathLst>
            </a:custGeom>
            <a:solidFill>
              <a:srgbClr val="193EB0"/>
            </a:solidFill>
          </p:spPr>
          <p:txBody>
            <a:bodyPr/>
            <a:lstStyle/>
            <a:p>
              <a:endParaRPr lang="en-GB" dirty="0"/>
            </a:p>
          </p:txBody>
        </p:sp>
      </p:grpSp>
      <p:sp>
        <p:nvSpPr>
          <p:cNvPr id="4" name="AutoShape 4">
            <a:extLst>
              <a:ext uri="{FF2B5EF4-FFF2-40B4-BE49-F238E27FC236}">
                <a16:creationId xmlns:a16="http://schemas.microsoft.com/office/drawing/2014/main" id="{CA04FD7F-ECC8-F19C-2CE9-CA1A029ECDD0}"/>
              </a:ext>
            </a:extLst>
          </p:cNvPr>
          <p:cNvSpPr/>
          <p:nvPr/>
        </p:nvSpPr>
        <p:spPr>
          <a:xfrm rot="3727">
            <a:off x="564916" y="6209429"/>
            <a:ext cx="8783874" cy="0"/>
          </a:xfrm>
          <a:prstGeom prst="line">
            <a:avLst/>
          </a:prstGeom>
          <a:ln w="9525" cap="rnd">
            <a:solidFill>
              <a:srgbClr val="BFBFBF"/>
            </a:solidFill>
            <a:prstDash val="solid"/>
            <a:headEnd type="none" w="sm" len="sm"/>
            <a:tailEnd type="none" w="sm" len="sm"/>
          </a:ln>
        </p:spPr>
        <p:txBody>
          <a:bodyPr/>
          <a:lstStyle/>
          <a:p>
            <a:endParaRPr lang="en-GB"/>
          </a:p>
        </p:txBody>
      </p:sp>
      <p:sp>
        <p:nvSpPr>
          <p:cNvPr id="5" name="TextBox 5">
            <a:extLst>
              <a:ext uri="{FF2B5EF4-FFF2-40B4-BE49-F238E27FC236}">
                <a16:creationId xmlns:a16="http://schemas.microsoft.com/office/drawing/2014/main" id="{E85C0E03-26CB-784B-FF40-B189D92B4285}"/>
              </a:ext>
            </a:extLst>
          </p:cNvPr>
          <p:cNvSpPr txBox="1"/>
          <p:nvPr/>
        </p:nvSpPr>
        <p:spPr>
          <a:xfrm>
            <a:off x="572597" y="6326796"/>
            <a:ext cx="2888788" cy="228584"/>
          </a:xfrm>
          <a:prstGeom prst="rect">
            <a:avLst/>
          </a:prstGeom>
        </p:spPr>
        <p:txBody>
          <a:bodyPr lIns="0" tIns="0" rIns="0" bIns="0" rtlCol="0" anchor="t">
            <a:spAutoFit/>
          </a:bodyPr>
          <a:lstStyle/>
          <a:p>
            <a:pPr algn="l">
              <a:lnSpc>
                <a:spcPts val="1560"/>
              </a:lnSpc>
            </a:pPr>
            <a:r>
              <a:rPr lang="en-US" sz="1300">
                <a:solidFill>
                  <a:srgbClr val="7F7F7F"/>
                </a:solidFill>
                <a:latin typeface="Arial MT Pro"/>
                <a:ea typeface="Arial MT Pro"/>
                <a:cs typeface="Arial MT Pro"/>
                <a:sym typeface="Arial MT Pro"/>
              </a:rPr>
              <a:t>Samsung Innovation Campus</a:t>
            </a:r>
          </a:p>
        </p:txBody>
      </p:sp>
      <p:sp>
        <p:nvSpPr>
          <p:cNvPr id="6" name="TextBox 6">
            <a:extLst>
              <a:ext uri="{FF2B5EF4-FFF2-40B4-BE49-F238E27FC236}">
                <a16:creationId xmlns:a16="http://schemas.microsoft.com/office/drawing/2014/main" id="{056C7CCB-94F8-D605-8688-183F1B953948}"/>
              </a:ext>
            </a:extLst>
          </p:cNvPr>
          <p:cNvSpPr txBox="1"/>
          <p:nvPr/>
        </p:nvSpPr>
        <p:spPr>
          <a:xfrm>
            <a:off x="564918" y="289102"/>
            <a:ext cx="8060986" cy="487313"/>
          </a:xfrm>
          <a:prstGeom prst="rect">
            <a:avLst/>
          </a:prstGeom>
        </p:spPr>
        <p:txBody>
          <a:bodyPr lIns="0" tIns="0" rIns="0" bIns="0" rtlCol="0" anchor="t">
            <a:spAutoFit/>
          </a:bodyPr>
          <a:lstStyle/>
          <a:p>
            <a:pPr>
              <a:lnSpc>
                <a:spcPts val="3840"/>
              </a:lnSpc>
            </a:pPr>
            <a:r>
              <a:rPr lang="en-US" sz="3200" dirty="0">
                <a:solidFill>
                  <a:srgbClr val="FFFFFF"/>
                </a:solidFill>
                <a:latin typeface="Arial MT Pro"/>
                <a:ea typeface="Arial MT Pro"/>
                <a:cs typeface="Arial MT Pro"/>
                <a:sym typeface="Arial MT Pro"/>
              </a:rPr>
              <a:t>Future Work</a:t>
            </a:r>
          </a:p>
        </p:txBody>
      </p:sp>
      <p:sp>
        <p:nvSpPr>
          <p:cNvPr id="11" name="TextBox 10">
            <a:extLst>
              <a:ext uri="{FF2B5EF4-FFF2-40B4-BE49-F238E27FC236}">
                <a16:creationId xmlns:a16="http://schemas.microsoft.com/office/drawing/2014/main" id="{8AEA87C9-71E8-E126-284E-C18725FBA2AD}"/>
              </a:ext>
            </a:extLst>
          </p:cNvPr>
          <p:cNvSpPr txBox="1"/>
          <p:nvPr/>
        </p:nvSpPr>
        <p:spPr>
          <a:xfrm>
            <a:off x="306684" y="1567249"/>
            <a:ext cx="8382000" cy="2941062"/>
          </a:xfrm>
          <a:prstGeom prst="rect">
            <a:avLst/>
          </a:prstGeom>
          <a:noFill/>
        </p:spPr>
        <p:txBody>
          <a:bodyPr wrap="square" rtlCol="0">
            <a:spAutoFit/>
          </a:bodyPr>
          <a:lstStyle/>
          <a:p>
            <a:pPr marL="631186" lvl="1" indent="-285750">
              <a:lnSpc>
                <a:spcPts val="3839"/>
              </a:lnSpc>
              <a:buFont typeface="Arial" panose="020B0604020202020204" pitchFamily="34" charset="0"/>
              <a:buChar char="•"/>
            </a:pPr>
            <a:r>
              <a:rPr lang="en-AU" sz="1600" dirty="0">
                <a:solidFill>
                  <a:srgbClr val="7F7F7F"/>
                </a:solidFill>
                <a:latin typeface="Arimo"/>
                <a:ea typeface="Arimo"/>
                <a:cs typeface="Arimo"/>
                <a:sym typeface="Arimo"/>
              </a:rPr>
              <a:t>Till now, we had  a great amount of valuable learning, and we applied it by practice on a real-world dataset</a:t>
            </a:r>
          </a:p>
          <a:p>
            <a:pPr marL="631186" lvl="1" indent="-285750">
              <a:lnSpc>
                <a:spcPts val="3839"/>
              </a:lnSpc>
              <a:buFont typeface="Arial" panose="020B0604020202020204" pitchFamily="34" charset="0"/>
              <a:buChar char="•"/>
            </a:pPr>
            <a:r>
              <a:rPr lang="en-AU" sz="1600" dirty="0">
                <a:solidFill>
                  <a:srgbClr val="7F7F7F"/>
                </a:solidFill>
                <a:latin typeface="Arimo"/>
                <a:ea typeface="Arimo"/>
                <a:cs typeface="Arimo"/>
                <a:sym typeface="Arimo"/>
              </a:rPr>
              <a:t>Our next steps is to get into more complex datasets that solve critical and important problems using both ML and DL</a:t>
            </a:r>
          </a:p>
          <a:p>
            <a:pPr marL="631186" lvl="1" indent="-285750">
              <a:lnSpc>
                <a:spcPts val="3839"/>
              </a:lnSpc>
              <a:buFont typeface="Arial" panose="020B0604020202020204" pitchFamily="34" charset="0"/>
              <a:buChar char="•"/>
            </a:pPr>
            <a:r>
              <a:rPr lang="en-AU" sz="1600" dirty="0">
                <a:solidFill>
                  <a:srgbClr val="7F7F7F"/>
                </a:solidFill>
                <a:latin typeface="Arimo"/>
                <a:ea typeface="Arimo"/>
                <a:cs typeface="Arimo"/>
                <a:sym typeface="Arimo"/>
              </a:rPr>
              <a:t>We’re looking forward for more learning and more work</a:t>
            </a:r>
          </a:p>
          <a:p>
            <a:pPr marL="631186" lvl="1" indent="-285750">
              <a:lnSpc>
                <a:spcPts val="3839"/>
              </a:lnSpc>
              <a:buFont typeface="Arial" panose="020B0604020202020204" pitchFamily="34" charset="0"/>
              <a:buChar char="•"/>
            </a:pPr>
            <a:r>
              <a:rPr lang="en-AU" sz="1600" dirty="0">
                <a:solidFill>
                  <a:srgbClr val="7F7F7F"/>
                </a:solidFill>
                <a:latin typeface="Arimo"/>
                <a:ea typeface="Arimo"/>
                <a:cs typeface="Arimo"/>
                <a:sym typeface="Arimo"/>
              </a:rPr>
              <a:t>Thank YOU!</a:t>
            </a:r>
            <a:endParaRPr lang="en-GB" sz="1600" dirty="0">
              <a:solidFill>
                <a:srgbClr val="7F7F7F"/>
              </a:solidFill>
              <a:latin typeface="Arimo"/>
              <a:ea typeface="Arimo"/>
              <a:cs typeface="Arimo"/>
              <a:sym typeface="Arimo"/>
            </a:endParaRPr>
          </a:p>
        </p:txBody>
      </p:sp>
    </p:spTree>
    <p:extLst>
      <p:ext uri="{BB962C8B-B14F-4D97-AF65-F5344CB8AC3E}">
        <p14:creationId xmlns:p14="http://schemas.microsoft.com/office/powerpoint/2010/main" val="337281259"/>
      </p:ext>
    </p:extLst>
  </p:cSld>
  <p:clrMapOvr>
    <a:masterClrMapping/>
  </p:clrMapOvr>
  <p:transition>
    <p:push/>
  </p:transition>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93EB0"/>
        </a:solidFill>
        <a:effectLst/>
      </p:bgPr>
    </p:bg>
    <p:spTree>
      <p:nvGrpSpPr>
        <p:cNvPr id="1" name=""/>
        <p:cNvGrpSpPr/>
        <p:nvPr/>
      </p:nvGrpSpPr>
      <p:grpSpPr>
        <a:xfrm>
          <a:off x="0" y="0"/>
          <a:ext cx="0" cy="0"/>
          <a:chOff x="0" y="0"/>
          <a:chExt cx="0" cy="0"/>
        </a:xfrm>
      </p:grpSpPr>
      <p:sp>
        <p:nvSpPr>
          <p:cNvPr id="2" name="TextBox 2"/>
          <p:cNvSpPr txBox="1"/>
          <p:nvPr/>
        </p:nvSpPr>
        <p:spPr>
          <a:xfrm>
            <a:off x="592977" y="5602466"/>
            <a:ext cx="9309848" cy="759544"/>
          </a:xfrm>
          <a:prstGeom prst="rect">
            <a:avLst/>
          </a:prstGeom>
        </p:spPr>
        <p:txBody>
          <a:bodyPr lIns="0" tIns="0" rIns="0" bIns="0" rtlCol="0" anchor="t">
            <a:spAutoFit/>
          </a:bodyPr>
          <a:lstStyle/>
          <a:p>
            <a:pPr algn="l">
              <a:lnSpc>
                <a:spcPts val="1200"/>
              </a:lnSpc>
            </a:pPr>
            <a:r>
              <a:rPr lang="en-US" sz="1000">
                <a:solidFill>
                  <a:srgbClr val="FFFFFF"/>
                </a:solidFill>
                <a:latin typeface="Arial MT Pro"/>
                <a:ea typeface="Arial MT Pro"/>
                <a:cs typeface="Arial MT Pro"/>
                <a:sym typeface="Arial MT Pro"/>
              </a:rPr>
              <a:t>ⓒ2020 SAMSUNG. All rights reserved.</a:t>
            </a:r>
          </a:p>
          <a:p>
            <a:pPr algn="l">
              <a:lnSpc>
                <a:spcPts val="1200"/>
              </a:lnSpc>
            </a:pPr>
            <a:r>
              <a:rPr lang="en-US" sz="1000">
                <a:solidFill>
                  <a:srgbClr val="FFFFFF"/>
                </a:solidFill>
                <a:latin typeface="Arial MT Pro"/>
                <a:ea typeface="Arial MT Pro"/>
                <a:cs typeface="Arial MT Pro"/>
                <a:sym typeface="Arial MT Pro"/>
              </a:rPr>
              <a:t>Samsung Electronics Corporate Citizenship Office holds the copyright of book.</a:t>
            </a:r>
          </a:p>
          <a:p>
            <a:pPr algn="l">
              <a:lnSpc>
                <a:spcPts val="1200"/>
              </a:lnSpc>
            </a:pPr>
            <a:r>
              <a:rPr lang="en-US" sz="1000">
                <a:solidFill>
                  <a:srgbClr val="FFFFFF"/>
                </a:solidFill>
                <a:latin typeface="Arial MT Pro"/>
                <a:ea typeface="Arial MT Pro"/>
                <a:cs typeface="Arial MT Pro"/>
                <a:sym typeface="Arial MT Pro"/>
              </a:rPr>
              <a:t>This book is a literary property protected by copyright law so reprint and reproduction without permission are prohibited. </a:t>
            </a:r>
          </a:p>
          <a:p>
            <a:pPr algn="l">
              <a:lnSpc>
                <a:spcPts val="1200"/>
              </a:lnSpc>
            </a:pPr>
            <a:r>
              <a:rPr lang="en-US" sz="1000">
                <a:solidFill>
                  <a:srgbClr val="FFFFFF"/>
                </a:solidFill>
                <a:latin typeface="Arial MT Pro"/>
                <a:ea typeface="Arial MT Pro"/>
                <a:cs typeface="Arial MT Pro"/>
                <a:sym typeface="Arial MT Pro"/>
              </a:rPr>
              <a:t>To use this book other than the curriculum of Samsung innovation Campus or to use the entire or part of this book, you must receive written consent from copyright holder.</a:t>
            </a:r>
          </a:p>
        </p:txBody>
      </p:sp>
      <p:sp>
        <p:nvSpPr>
          <p:cNvPr id="3" name="Freeform 3"/>
          <p:cNvSpPr/>
          <p:nvPr/>
        </p:nvSpPr>
        <p:spPr>
          <a:xfrm>
            <a:off x="8066554" y="403958"/>
            <a:ext cx="1360963" cy="210192"/>
          </a:xfrm>
          <a:custGeom>
            <a:avLst/>
            <a:gdLst/>
            <a:ahLst/>
            <a:cxnLst/>
            <a:rect l="l" t="t" r="r" b="b"/>
            <a:pathLst>
              <a:path w="1360963" h="210192">
                <a:moveTo>
                  <a:pt x="0" y="0"/>
                </a:moveTo>
                <a:lnTo>
                  <a:pt x="1360963" y="0"/>
                </a:lnTo>
                <a:lnTo>
                  <a:pt x="1360963" y="210192"/>
                </a:lnTo>
                <a:lnTo>
                  <a:pt x="0" y="21019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3271258" y="2628879"/>
            <a:ext cx="3360308" cy="1102138"/>
          </a:xfrm>
          <a:custGeom>
            <a:avLst/>
            <a:gdLst/>
            <a:ahLst/>
            <a:cxnLst/>
            <a:rect l="l" t="t" r="r" b="b"/>
            <a:pathLst>
              <a:path w="3360308" h="1102138">
                <a:moveTo>
                  <a:pt x="0" y="0"/>
                </a:moveTo>
                <a:lnTo>
                  <a:pt x="3360308" y="0"/>
                </a:lnTo>
                <a:lnTo>
                  <a:pt x="3360308" y="1102138"/>
                </a:lnTo>
                <a:lnTo>
                  <a:pt x="0" y="1102138"/>
                </a:lnTo>
                <a:lnTo>
                  <a:pt x="0" y="0"/>
                </a:lnTo>
                <a:close/>
              </a:path>
            </a:pathLst>
          </a:custGeom>
          <a:blipFill>
            <a:blip r:embed="rId5"/>
            <a:stretch>
              <a:fillRect/>
            </a:stretch>
          </a:blipFill>
        </p:spPr>
        <p:txBody>
          <a:bodyPr/>
          <a:lstStyle/>
          <a:p>
            <a:endParaRPr lang="en-GB"/>
          </a:p>
        </p:txBody>
      </p:sp>
    </p:spTree>
  </p:cSld>
  <p:clrMapOvr>
    <a:masterClrMapping/>
  </p:clrMapOvr>
  <p:transition>
    <p:push/>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TotalTime>
  <Words>1139</Words>
  <Application>Microsoft Office PowerPoint</Application>
  <PresentationFormat>Custom</PresentationFormat>
  <Paragraphs>150</Paragraphs>
  <Slides>31</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31</vt:i4>
      </vt:variant>
    </vt:vector>
  </HeadingPairs>
  <TitlesOfParts>
    <vt:vector size="36" baseType="lpstr">
      <vt:lpstr>Calibri</vt:lpstr>
      <vt:lpstr>Arimo</vt:lpstr>
      <vt:lpstr>Arial</vt:lpstr>
      <vt:lpstr>Arial MT Pro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Team 1 - DL_SIC.pptx</dc:title>
  <dc:creator>Mostafa</dc:creator>
  <cp:lastModifiedBy>Mostafa Ahmed</cp:lastModifiedBy>
  <cp:revision>3</cp:revision>
  <dcterms:created xsi:type="dcterms:W3CDTF">2006-08-16T00:00:00Z</dcterms:created>
  <dcterms:modified xsi:type="dcterms:W3CDTF">2025-10-01T21:17:59Z</dcterms:modified>
  <dc:identifier>DAGx6Qo1x_w</dc:identifier>
</cp:coreProperties>
</file>